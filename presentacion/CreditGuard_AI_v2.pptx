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8015a15-1293-743c-6a23-b10da32e1ad4}">
          <p14:sldIdLst>
            <p14:sldId id="256"/>
          </p14:sldIdLst>
        </p14:section>
        <p14:section name="Problema" id="{0eacb962-e2f4-5a6b-27df-b72917ed704e}">
          <p14:sldIdLst>
            <p14:sldId id="257"/>
          </p14:sldIdLst>
        </p14:section>
        <p14:section name="Datos" id="{761f233b-cc40-595c-31be-ffc837c03e3d}">
          <p14:sldIdLst>
            <p14:sldId id="258"/>
          </p14:sldIdLst>
        </p14:section>
        <p14:section name="Arquitectura" id="{958df7d3-cbf5-cf80-500a-09979a3eb389}">
          <p14:sldIdLst>
            <p14:sldId id="259"/>
            <p14:sldId id="260"/>
          </p14:sldIdLst>
        </p14:section>
        <p14:section name="Resultados" id="{24eddf03-ac02-f70c-c0c5-cc4841a44944}">
          <p14:sldIdLst>
            <p14:sldId id="261"/>
            <p14:sldId id="262"/>
            <p14:sldId id="263"/>
          </p14:sldIdLst>
        </p14:section>
        <p14:section name="Pruebas y límites" id="{cecece0b-7d36-fb32-3fd3-6fe0636966bc}">
          <p14:sldIdLst>
            <p14:sldId id="264"/>
            <p14:sldId id="265"/>
          </p14:sldIdLst>
        </p14:section>
        <p14:section name="Reflexión" id="{e4572c4d-aea7-7021-508e-1aefd09bc1f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B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CreditGuard AI · Hackathon «Sistemas agénticos para Business Intelligence» · INESDI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CREDITGUARD AI · RIESGO DE IMPAGO</a:t>
            </a:r>
            <a:endParaRPr lang="en-US" sz="1100" dirty="0"/>
          </a:p>
        </p:txBody>
      </p:sp>
      <p:sp>
        <p:nvSpPr>
          <p:cNvPr id="3" name="Titular"/>
          <p:cNvSpPr txBox="1"/>
          <p:nvPr/>
        </p:nvSpPr>
        <p:spPr>
          <a:xfrm>
            <a:off x="457200" y="68580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score separa el riesgo: los préstamos que marca como críticos impagan casi nueve veces más que los de riesgo bajo</a:t>
            </a:r>
            <a:endParaRPr lang="en-US" sz="3000" dirty="0"/>
          </a:p>
        </p:txBody>
      </p:sp>
      <p:sp>
        <p:nvSpPr>
          <p:cNvPr id="4" name="Cifra BAJO"/>
          <p:cNvSpPr txBox="1"/>
          <p:nvPr/>
        </p:nvSpPr>
        <p:spPr>
          <a:xfrm>
            <a:off x="457200" y="2286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8,2 %</a:t>
            </a:r>
            <a:endParaRPr lang="en-US" sz="4400" dirty="0"/>
          </a:p>
        </p:txBody>
      </p:sp>
      <p:sp>
        <p:nvSpPr>
          <p:cNvPr id="5" name="Frente a"/>
          <p:cNvSpPr txBox="1"/>
          <p:nvPr/>
        </p:nvSpPr>
        <p:spPr>
          <a:xfrm>
            <a:off x="269748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a</a:t>
            </a:r>
            <a:endParaRPr lang="en-US" sz="1800" dirty="0"/>
          </a:p>
        </p:txBody>
      </p:sp>
      <p:sp>
        <p:nvSpPr>
          <p:cNvPr id="6" name="Cifra CRÍTICO"/>
          <p:cNvSpPr txBox="1"/>
          <p:nvPr/>
        </p:nvSpPr>
        <p:spPr>
          <a:xfrm>
            <a:off x="384048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72,1 %</a:t>
            </a:r>
            <a:endParaRPr lang="en-US" sz="4400" dirty="0"/>
          </a:p>
        </p:txBody>
      </p:sp>
      <p:sp>
        <p:nvSpPr>
          <p:cNvPr id="7" name="Etiqueta BAJO"/>
          <p:cNvSpPr txBox="1"/>
          <p:nvPr/>
        </p:nvSpPr>
        <p:spPr>
          <a:xfrm>
            <a:off x="457200" y="3035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impago real en BAJO</a:t>
            </a:r>
            <a:endParaRPr lang="en-US" sz="1200" dirty="0"/>
          </a:p>
        </p:txBody>
      </p:sp>
      <p:sp>
        <p:nvSpPr>
          <p:cNvPr id="8" name="Etiqueta CRÍTICO"/>
          <p:cNvSpPr txBox="1"/>
          <p:nvPr/>
        </p:nvSpPr>
        <p:spPr>
          <a:xfrm>
            <a:off x="3840480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impago real en CRÍTICO</a:t>
            </a:r>
            <a:endParaRPr lang="en-US" sz="1200" dirty="0"/>
          </a:p>
        </p:txBody>
      </p:sp>
      <p:sp>
        <p:nvSpPr>
          <p:cNvPr id="9" name="Resumen"/>
          <p:cNvSpPr txBox="1"/>
          <p:nvPr/>
        </p:nvSpPr>
        <p:spPr>
          <a:xfrm>
            <a:off x="457200" y="34747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CreditGuard AI revisa una cartera real de 32.581 préstamos, calcula el riesgo de impago de cada uno y propone qué hacer. Las acciones duras de cobro nunca se ejecutan solas: esperan la autorización de una persona.</a:t>
            </a:r>
            <a:endParaRPr lang="en-US" sz="1400" dirty="0"/>
          </a:p>
        </p:txBody>
      </p:sp>
      <p:sp>
        <p:nvSpPr>
          <p:cNvPr id="10" name="Equipo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Mario Brochero López · Sofía Montero Jara · Santiago Nicolás Viuche Pinilla</a:t>
            </a:r>
            <a:endParaRPr lang="en-US" sz="1200" dirty="0"/>
          </a:p>
        </p:txBody>
      </p:sp>
      <p:sp>
        <p:nvSpPr>
          <p:cNvPr id="11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cobro llega tarde: se actúa tras el impago</a:t>
            </a:r>
            <a:endParaRPr lang="en-US" sz="2600" dirty="0"/>
          </a:p>
        </p:txBody>
      </p:sp>
      <p:sp>
        <p:nvSpPr>
          <p:cNvPr id="4" name="Tarjeta Hoy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itular Hoy"/>
          <p:cNvSpPr txBox="1"/>
          <p:nvPr/>
        </p:nvSpPr>
        <p:spPr>
          <a:xfrm>
            <a:off x="658368" y="1435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500" dirty="0"/>
          </a:p>
        </p:txBody>
      </p:sp>
      <p:sp>
        <p:nvSpPr>
          <p:cNvPr id="6" name="Texto Hoy"/>
          <p:cNvSpPr txBox="1"/>
          <p:nvPr/>
        </p:nvSpPr>
        <p:spPr>
          <a:xfrm>
            <a:off x="658368" y="172821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manual y reactiva; el esfuerzo de cobro se reparte igual entre préstamos de riesgo muy distinto</a:t>
            </a:r>
            <a:endParaRPr lang="en-US" sz="1250" dirty="0"/>
          </a:p>
        </p:txBody>
      </p:sp>
      <p:sp>
        <p:nvSpPr>
          <p:cNvPr id="7" name="Tarjeta Mercado"/>
          <p:cNvSpPr/>
          <p:nvPr/>
        </p:nvSpPr>
        <p:spPr>
          <a:xfrm>
            <a:off x="457200" y="2404872"/>
            <a:ext cx="4754880" cy="9601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itular Mercado"/>
          <p:cNvSpPr txBox="1"/>
          <p:nvPr/>
        </p:nvSpPr>
        <p:spPr>
          <a:xfrm>
            <a:off x="658368" y="2514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500" dirty="0"/>
          </a:p>
        </p:txBody>
      </p:sp>
      <p:sp>
        <p:nvSpPr>
          <p:cNvPr id="9" name="Texto Mercado"/>
          <p:cNvSpPr txBox="1"/>
          <p:nvPr/>
        </p:nvSpPr>
        <p:spPr>
          <a:xfrm>
            <a:off x="658368" y="28072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 informes estáticos, cobros por reglas simples y scoring externo que no dice qué acción tomar</a:t>
            </a:r>
            <a:endParaRPr lang="en-US" sz="1250" dirty="0"/>
          </a:p>
        </p:txBody>
      </p:sp>
      <p:sp>
        <p:nvSpPr>
          <p:cNvPr id="10" name="Tarjeta Oportunidad"/>
          <p:cNvSpPr/>
          <p:nvPr/>
        </p:nvSpPr>
        <p:spPr>
          <a:xfrm>
            <a:off x="457200" y="3483864"/>
            <a:ext cx="4754880" cy="96012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itular Oportunidad"/>
          <p:cNvSpPr txBox="1"/>
          <p:nvPr/>
        </p:nvSpPr>
        <p:spPr>
          <a:xfrm>
            <a:off x="658368" y="3593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500" dirty="0"/>
          </a:p>
        </p:txBody>
      </p:sp>
      <p:sp>
        <p:nvSpPr>
          <p:cNvPr id="12" name="Texto Oportunidad"/>
          <p:cNvSpPr txBox="1"/>
          <p:nvPr/>
        </p:nvSpPr>
        <p:spPr>
          <a:xfrm>
            <a:off x="658368" y="38862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consulta los datos, puntúa el riesgo de forma explicable y propone la acción, con control humano</a:t>
            </a:r>
            <a:endParaRPr lang="en-US" sz="1250" dirty="0"/>
          </a:p>
        </p:txBody>
      </p:sp>
      <p:sp>
        <p:nvSpPr>
          <p:cNvPr id="13" name="Tarjeta problemas"/>
          <p:cNvSpPr/>
          <p:nvPr/>
        </p:nvSpPr>
        <p:spPr>
          <a:xfrm>
            <a:off x="5486400" y="1325880"/>
            <a:ext cx="3200400" cy="3118104"/>
          </a:xfrm>
          <a:prstGeom prst="roundRect">
            <a:avLst>
              <a:gd name="adj" fmla="val 205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itular problemas"/>
          <p:cNvSpPr txBox="1"/>
          <p:nvPr/>
        </p:nvSpPr>
        <p:spPr>
          <a:xfrm>
            <a:off x="5687568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PROBLEMAS DE BI EVALUADOS</a:t>
            </a:r>
            <a:endParaRPr lang="en-US" sz="1000" dirty="0"/>
          </a:p>
        </p:txBody>
      </p:sp>
      <p:sp>
        <p:nvSpPr>
          <p:cNvPr id="15" name="Problema 1"/>
          <p:cNvSpPr txBox="1"/>
          <p:nvPr/>
        </p:nvSpPr>
        <p:spPr>
          <a:xfrm>
            <a:off x="5687568" y="182880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impago en cartera de crédito</a:t>
            </a:r>
            <a:endParaRPr lang="en-US" sz="1250" dirty="0"/>
          </a:p>
        </p:txBody>
      </p:sp>
      <p:sp>
        <p:nvSpPr>
          <p:cNvPr id="16" name="Problema 2"/>
          <p:cNvSpPr txBox="1"/>
          <p:nvPr/>
        </p:nvSpPr>
        <p:spPr>
          <a:xfrm>
            <a:off x="5687568" y="219456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en SaaS B2B</a:t>
            </a:r>
            <a:endParaRPr lang="en-US" sz="1250" dirty="0"/>
          </a:p>
        </p:txBody>
      </p:sp>
      <p:sp>
        <p:nvSpPr>
          <p:cNvPr id="17" name="Problema 3"/>
          <p:cNvSpPr txBox="1"/>
          <p:nvPr/>
        </p:nvSpPr>
        <p:spPr>
          <a:xfrm>
            <a:off x="5687568" y="25603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 de cobro B2B (DSO)</a:t>
            </a:r>
            <a:endParaRPr lang="en-US" sz="1250" dirty="0"/>
          </a:p>
        </p:txBody>
      </p:sp>
      <p:sp>
        <p:nvSpPr>
          <p:cNvPr id="18" name="Problema 4"/>
          <p:cNvSpPr txBox="1"/>
          <p:nvPr/>
        </p:nvSpPr>
        <p:spPr>
          <a:xfrm>
            <a:off x="5687568" y="29260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Previsión de demanda retail</a:t>
            </a:r>
            <a:endParaRPr lang="en-US" sz="1250" dirty="0"/>
          </a:p>
        </p:txBody>
      </p:sp>
      <p:sp>
        <p:nvSpPr>
          <p:cNvPr id="19" name="Problema 5"/>
          <p:cNvSpPr txBox="1"/>
          <p:nvPr/>
        </p:nvSpPr>
        <p:spPr>
          <a:xfrm>
            <a:off x="5687568" y="329184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en pagos</a:t>
            </a:r>
            <a:endParaRPr lang="en-US" sz="1250" dirty="0"/>
          </a:p>
        </p:txBody>
      </p:sp>
      <p:sp>
        <p:nvSpPr>
          <p:cNvPr id="20" name="Motivo"/>
          <p:cNvSpPr txBox="1"/>
          <p:nvPr/>
        </p:nvSpPr>
        <p:spPr>
          <a:xfrm>
            <a:off x="5687568" y="37307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 porque los datos traen el resultado real: se puede comprobar si el sistema acierta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de la cartera analizada</a:t>
            </a:r>
            <a:endParaRPr lang="en-US" sz="2600" dirty="0"/>
          </a:p>
        </p:txBody>
      </p:sp>
      <p:sp>
        <p:nvSpPr>
          <p:cNvPr id="4" name="KPI préstamos reales (Kaggle, CC0)"/>
          <p:cNvSpPr/>
          <p:nvPr/>
        </p:nvSpPr>
        <p:spPr>
          <a:xfrm>
            <a:off x="457200" y="1325880"/>
            <a:ext cx="2651760" cy="1069848"/>
          </a:xfrm>
          <a:prstGeom prst="roundRect">
            <a:avLst>
              <a:gd name="adj" fmla="val 598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Valor préstamos reales (Kaggle, CC0)"/>
          <p:cNvSpPr txBox="1"/>
          <p:nvPr/>
        </p:nvSpPr>
        <p:spPr>
          <a:xfrm>
            <a:off x="640080" y="14538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32.581</a:t>
            </a:r>
            <a:endParaRPr lang="en-US" sz="2200" dirty="0"/>
          </a:p>
        </p:txBody>
      </p:sp>
      <p:sp>
        <p:nvSpPr>
          <p:cNvPr id="6" name="Etiqueta préstamos reales (Kaggle, CC0)"/>
          <p:cNvSpPr txBox="1"/>
          <p:nvPr/>
        </p:nvSpPr>
        <p:spPr>
          <a:xfrm>
            <a:off x="640080" y="19293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reales (Kaggle, CC0)</a:t>
            </a:r>
            <a:endParaRPr lang="en-US" sz="1150" dirty="0"/>
          </a:p>
        </p:txBody>
      </p:sp>
      <p:sp>
        <p:nvSpPr>
          <p:cNvPr id="7" name="KPI importe total"/>
          <p:cNvSpPr/>
          <p:nvPr/>
        </p:nvSpPr>
        <p:spPr>
          <a:xfrm>
            <a:off x="3246120" y="1325880"/>
            <a:ext cx="2651760" cy="1069848"/>
          </a:xfrm>
          <a:prstGeom prst="roundRect">
            <a:avLst>
              <a:gd name="adj" fmla="val 598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Valor importe total"/>
          <p:cNvSpPr txBox="1"/>
          <p:nvPr/>
        </p:nvSpPr>
        <p:spPr>
          <a:xfrm>
            <a:off x="3429000" y="14538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312.431.300 $</a:t>
            </a:r>
            <a:endParaRPr lang="en-US" sz="2200" dirty="0"/>
          </a:p>
        </p:txBody>
      </p:sp>
      <p:sp>
        <p:nvSpPr>
          <p:cNvPr id="9" name="Etiqueta importe total"/>
          <p:cNvSpPr txBox="1"/>
          <p:nvPr/>
        </p:nvSpPr>
        <p:spPr>
          <a:xfrm>
            <a:off x="3429000" y="19293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total</a:t>
            </a:r>
            <a:endParaRPr lang="en-US" sz="1150" dirty="0"/>
          </a:p>
        </p:txBody>
      </p:sp>
      <p:sp>
        <p:nvSpPr>
          <p:cNvPr id="10" name="KPI tasa de impago global"/>
          <p:cNvSpPr/>
          <p:nvPr/>
        </p:nvSpPr>
        <p:spPr>
          <a:xfrm>
            <a:off x="6035040" y="1325880"/>
            <a:ext cx="2651760" cy="1069848"/>
          </a:xfrm>
          <a:prstGeom prst="roundRect">
            <a:avLst>
              <a:gd name="adj" fmla="val 598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Valor tasa de impago global"/>
          <p:cNvSpPr txBox="1"/>
          <p:nvPr/>
        </p:nvSpPr>
        <p:spPr>
          <a:xfrm>
            <a:off x="6217920" y="14538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21,82 %</a:t>
            </a:r>
            <a:endParaRPr lang="en-US" sz="2200" dirty="0"/>
          </a:p>
        </p:txBody>
      </p:sp>
      <p:sp>
        <p:nvSpPr>
          <p:cNvPr id="12" name="Etiqueta tasa de impago global"/>
          <p:cNvSpPr txBox="1"/>
          <p:nvPr/>
        </p:nvSpPr>
        <p:spPr>
          <a:xfrm>
            <a:off x="6217920" y="19293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impago global</a:t>
            </a:r>
            <a:endParaRPr lang="en-US" sz="1150" dirty="0"/>
          </a:p>
        </p:txBody>
      </p:sp>
      <p:sp>
        <p:nvSpPr>
          <p:cNvPr id="13" name="KPI AUC del score frente al impago real (0,5 sería azar)"/>
          <p:cNvSpPr/>
          <p:nvPr/>
        </p:nvSpPr>
        <p:spPr>
          <a:xfrm>
            <a:off x="1851660" y="2532888"/>
            <a:ext cx="2651760" cy="1069848"/>
          </a:xfrm>
          <a:prstGeom prst="roundRect">
            <a:avLst>
              <a:gd name="adj" fmla="val 598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Valor AUC del score frente al impago real (0,5 sería azar)"/>
          <p:cNvSpPr txBox="1"/>
          <p:nvPr/>
        </p:nvSpPr>
        <p:spPr>
          <a:xfrm>
            <a:off x="2034540" y="26609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0,793</a:t>
            </a:r>
            <a:endParaRPr lang="en-US" sz="2200" dirty="0"/>
          </a:p>
        </p:txBody>
      </p:sp>
      <p:sp>
        <p:nvSpPr>
          <p:cNvPr id="15" name="Etiqueta AUC del score frente al impago real (0,5 sería azar)"/>
          <p:cNvSpPr txBox="1"/>
          <p:nvPr/>
        </p:nvSpPr>
        <p:spPr>
          <a:xfrm>
            <a:off x="2034540" y="31363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del score frente al impago real (0,5 sería azar)</a:t>
            </a:r>
            <a:endParaRPr lang="en-US" sz="1150" dirty="0"/>
          </a:p>
        </p:txBody>
      </p:sp>
      <p:sp>
        <p:nvSpPr>
          <p:cNvPr id="16" name="KPI importe en riesgo crítico (6,0 % del total)"/>
          <p:cNvSpPr/>
          <p:nvPr/>
        </p:nvSpPr>
        <p:spPr>
          <a:xfrm>
            <a:off x="4640580" y="2532888"/>
            <a:ext cx="2651760" cy="1069848"/>
          </a:xfrm>
          <a:prstGeom prst="roundRect">
            <a:avLst>
              <a:gd name="adj" fmla="val 598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Valor importe en riesgo crítico (6,0 % del total)"/>
          <p:cNvSpPr txBox="1"/>
          <p:nvPr/>
        </p:nvSpPr>
        <p:spPr>
          <a:xfrm>
            <a:off x="4823460" y="26609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18.799.800 $</a:t>
            </a:r>
            <a:endParaRPr lang="en-US" sz="2200" dirty="0"/>
          </a:p>
        </p:txBody>
      </p:sp>
      <p:sp>
        <p:nvSpPr>
          <p:cNvPr id="18" name="Etiqueta importe en riesgo crítico (6,0 % del total)"/>
          <p:cNvSpPr txBox="1"/>
          <p:nvPr/>
        </p:nvSpPr>
        <p:spPr>
          <a:xfrm>
            <a:off x="4823460" y="31363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en riesgo crítico (6,0 % del total)</a:t>
            </a:r>
            <a:endParaRPr lang="en-US" sz="1150" dirty="0"/>
          </a:p>
        </p:txBody>
      </p:sp>
      <p:sp>
        <p:nvSpPr>
          <p:cNvPr id="19" name="Notas de datos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 · tabla public.credit_risk · 13 columnas.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revisada: 9,6 % sin tipo de interés (se imputa y se avisa), 7 edades imposibles y 165 duplicados. Sin datos personales identificables.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agente</a:t>
            </a:r>
            <a:endParaRPr lang="en-US" sz="2600" dirty="0"/>
          </a:p>
        </p:txBody>
      </p:sp>
      <p:sp>
        <p:nvSpPr>
          <p:cNvPr id="4" name="Capa herramientas"/>
          <p:cNvSpPr/>
          <p:nvPr/>
        </p:nvSpPr>
        <p:spPr>
          <a:xfrm>
            <a:off x="3611880" y="1261872"/>
            <a:ext cx="2011680" cy="2852928"/>
          </a:xfrm>
          <a:prstGeom prst="roundRect">
            <a:avLst>
              <a:gd name="adj" fmla="val 3636"/>
            </a:avLst>
          </a:prstGeom>
          <a:solidFill>
            <a:schemeClr val="accent6">
              <a:alpha val="55000"/>
            </a:schemeClr>
          </a:solidFill>
          <a:ln w="9525">
            <a:solidFill>
              <a:schemeClr val="accent5"/>
            </a:solidFill>
            <a:prstDash val="dash"/>
          </a:ln>
        </p:spPr>
      </p:sp>
      <p:sp>
        <p:nvSpPr>
          <p:cNvPr id="5" name="Usuario"/>
          <p:cNvSpPr/>
          <p:nvPr/>
        </p:nvSpPr>
        <p:spPr>
          <a:xfrm>
            <a:off x="457200" y="2221992"/>
            <a:ext cx="1371600" cy="868680"/>
          </a:xfrm>
          <a:prstGeom prst="roundRect">
            <a:avLst>
              <a:gd name="adj" fmla="val 736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o Usuario"/>
          <p:cNvSpPr txBox="1"/>
          <p:nvPr/>
        </p:nvSpPr>
        <p:spPr>
          <a:xfrm>
            <a:off x="530352" y="2221992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/ Interfaz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o web Streamlit</a:t>
            </a:r>
            <a:endParaRPr lang="en-US" sz="1250" dirty="0"/>
          </a:p>
        </p:txBody>
      </p:sp>
      <p:sp>
        <p:nvSpPr>
          <p:cNvPr id="7" name="Agente"/>
          <p:cNvSpPr/>
          <p:nvPr/>
        </p:nvSpPr>
        <p:spPr>
          <a:xfrm>
            <a:off x="2057400" y="2221992"/>
            <a:ext cx="1371600" cy="868680"/>
          </a:xfrm>
          <a:prstGeom prst="roundRect">
            <a:avLst>
              <a:gd name="adj" fmla="val 7368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o Agente"/>
          <p:cNvSpPr txBox="1"/>
          <p:nvPr/>
        </p:nvSpPr>
        <p:spPr>
          <a:xfrm>
            <a:off x="2130552" y="2221992"/>
            <a:ext cx="1225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coordinador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CreditGuard AI · AGENTS.md</a:t>
            </a:r>
            <a:endParaRPr lang="en-US" sz="1250" dirty="0"/>
          </a:p>
        </p:txBody>
      </p:sp>
      <p:sp>
        <p:nvSpPr>
          <p:cNvPr id="9" name="Skill"/>
          <p:cNvSpPr/>
          <p:nvPr/>
        </p:nvSpPr>
        <p:spPr>
          <a:xfrm>
            <a:off x="3749040" y="1371600"/>
            <a:ext cx="1737360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o Skill"/>
          <p:cNvSpPr txBox="1"/>
          <p:nvPr/>
        </p:nvSpPr>
        <p:spPr>
          <a:xfrm>
            <a:off x="3822192" y="137160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credit-risk · score 0-100</a:t>
            </a:r>
            <a:endParaRPr lang="en-US" sz="1250" dirty="0"/>
          </a:p>
        </p:txBody>
      </p:sp>
      <p:sp>
        <p:nvSpPr>
          <p:cNvPr id="11" name="MCP"/>
          <p:cNvSpPr/>
          <p:nvPr/>
        </p:nvSpPr>
        <p:spPr>
          <a:xfrm>
            <a:off x="3749040" y="2313432"/>
            <a:ext cx="1737360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o MCP"/>
          <p:cNvSpPr txBox="1"/>
          <p:nvPr/>
        </p:nvSpPr>
        <p:spPr>
          <a:xfrm>
            <a:off x="3822192" y="2313432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execute_sql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credit-risk · propio</a:t>
            </a:r>
            <a:endParaRPr lang="en-US" sz="1250" dirty="0"/>
          </a:p>
        </p:txBody>
      </p:sp>
      <p:sp>
        <p:nvSpPr>
          <p:cNvPr id="13" name="Datos"/>
          <p:cNvSpPr/>
          <p:nvPr/>
        </p:nvSpPr>
        <p:spPr>
          <a:xfrm>
            <a:off x="3749040" y="3255264"/>
            <a:ext cx="1737360" cy="73152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o Datos"/>
          <p:cNvSpPr txBox="1"/>
          <p:nvPr/>
        </p:nvSpPr>
        <p:spPr>
          <a:xfrm>
            <a:off x="3822192" y="3255264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32.581 préstamos</a:t>
            </a:r>
            <a:endParaRPr lang="en-US" sz="1250" dirty="0"/>
          </a:p>
        </p:txBody>
      </p:sp>
      <p:sp>
        <p:nvSpPr>
          <p:cNvPr id="15" name="Backend"/>
          <p:cNvSpPr/>
          <p:nvPr/>
        </p:nvSpPr>
        <p:spPr>
          <a:xfrm>
            <a:off x="5852160" y="2221992"/>
            <a:ext cx="1417320" cy="868680"/>
          </a:xfrm>
          <a:prstGeom prst="roundRect">
            <a:avLst>
              <a:gd name="adj" fmla="val 7368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Texto Backend"/>
          <p:cNvSpPr txBox="1"/>
          <p:nvPr/>
        </p:nvSpPr>
        <p:spPr>
          <a:xfrm>
            <a:off x="5925312" y="2221992"/>
            <a:ext cx="1271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→ Resultado BI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servicio.py · KPI, tabla y acciones</a:t>
            </a:r>
            <a:endParaRPr lang="en-US" sz="1250" dirty="0"/>
          </a:p>
        </p:txBody>
      </p:sp>
      <p:sp>
        <p:nvSpPr>
          <p:cNvPr id="17" name="Salida crítica"/>
          <p:cNvSpPr/>
          <p:nvPr/>
        </p:nvSpPr>
        <p:spPr>
          <a:xfrm>
            <a:off x="7498080" y="1463040"/>
            <a:ext cx="1188720" cy="914400"/>
          </a:xfrm>
          <a:prstGeom prst="roundRect">
            <a:avLst>
              <a:gd name="adj" fmla="val 7000"/>
            </a:avLst>
          </a:prstGeom>
          <a:solidFill>
            <a:srgbClr val="F9E1DE"/>
          </a:solidFill>
          <a:ln w="9525">
            <a:solidFill>
              <a:srgbClr val="F9E1DE"/>
            </a:solidFill>
            <a:prstDash val="solid"/>
          </a:ln>
        </p:spPr>
      </p:sp>
      <p:sp>
        <p:nvSpPr>
          <p:cNvPr id="18" name="Texto salida crítica"/>
          <p:cNvSpPr txBox="1"/>
          <p:nvPr/>
        </p:nvSpPr>
        <p:spPr>
          <a:xfrm>
            <a:off x="7562088" y="146304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65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pendiente de autorización humana</a:t>
            </a:r>
            <a:endParaRPr lang="en-US" sz="1150" dirty="0"/>
          </a:p>
        </p:txBody>
      </p:sp>
      <p:sp>
        <p:nvSpPr>
          <p:cNvPr id="19" name="Salida normal"/>
          <p:cNvSpPr/>
          <p:nvPr/>
        </p:nvSpPr>
        <p:spPr>
          <a:xfrm>
            <a:off x="7498080" y="2980944"/>
            <a:ext cx="1188720" cy="914400"/>
          </a:xfrm>
          <a:prstGeom prst="roundRect">
            <a:avLst>
              <a:gd name="adj" fmla="val 7000"/>
            </a:avLst>
          </a:prstGeom>
          <a:solidFill>
            <a:srgbClr val="E2F1E7"/>
          </a:solidFill>
          <a:ln w="9525">
            <a:solidFill>
              <a:srgbClr val="E2F1E7"/>
            </a:solidFill>
            <a:prstDash val="solid"/>
          </a:ln>
        </p:spPr>
      </p:sp>
      <p:sp>
        <p:nvSpPr>
          <p:cNvPr id="20" name="Texto salida normal"/>
          <p:cNvSpPr txBox="1"/>
          <p:nvPr/>
        </p:nvSpPr>
        <p:spPr>
          <a:xfrm>
            <a:off x="7562088" y="2980944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≤ 65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o plan en 3 cuotas</a:t>
            </a:r>
            <a:endParaRPr lang="en-US" sz="1150" dirty="0"/>
          </a:p>
        </p:txBody>
      </p:sp>
      <p:sp>
        <p:nvSpPr>
          <p:cNvPr id="21" name="Usuario a agente"/>
          <p:cNvSpPr/>
          <p:nvPr/>
        </p:nvSpPr>
        <p:spPr>
          <a:xfrm>
            <a:off x="1828800" y="2656332"/>
            <a:ext cx="228600" cy="914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Agente a skill"/>
          <p:cNvSpPr/>
          <p:nvPr/>
        </p:nvSpPr>
        <p:spPr>
          <a:xfrm flipV="1">
            <a:off x="3429000" y="1737360"/>
            <a:ext cx="320040" cy="7772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Agente a MCP"/>
          <p:cNvSpPr/>
          <p:nvPr/>
        </p:nvSpPr>
        <p:spPr>
          <a:xfrm>
            <a:off x="3429000" y="2656332"/>
            <a:ext cx="320040" cy="228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Agente a datos vía MCP"/>
          <p:cNvSpPr/>
          <p:nvPr/>
        </p:nvSpPr>
        <p:spPr>
          <a:xfrm>
            <a:off x="3429000" y="2798064"/>
            <a:ext cx="320040" cy="82296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triangle"/>
          </a:ln>
        </p:spPr>
      </p:sp>
      <p:sp>
        <p:nvSpPr>
          <p:cNvPr id="25" name="Skill a backend"/>
          <p:cNvSpPr/>
          <p:nvPr/>
        </p:nvSpPr>
        <p:spPr>
          <a:xfrm>
            <a:off x="5486400" y="1737360"/>
            <a:ext cx="365760" cy="77724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MCP a backend"/>
          <p:cNvSpPr/>
          <p:nvPr/>
        </p:nvSpPr>
        <p:spPr>
          <a:xfrm flipV="1">
            <a:off x="5486400" y="2656332"/>
            <a:ext cx="365760" cy="228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7" name="Datos a backend"/>
          <p:cNvSpPr/>
          <p:nvPr/>
        </p:nvSpPr>
        <p:spPr>
          <a:xfrm flipV="1">
            <a:off x="5486400" y="2798064"/>
            <a:ext cx="365760" cy="8229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Backend a crítica"/>
          <p:cNvSpPr/>
          <p:nvPr/>
        </p:nvSpPr>
        <p:spPr>
          <a:xfrm flipV="1">
            <a:off x="7269480" y="1920240"/>
            <a:ext cx="228600" cy="5943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Backend a normal"/>
          <p:cNvSpPr/>
          <p:nvPr/>
        </p:nvSpPr>
        <p:spPr>
          <a:xfrm>
            <a:off x="7269480" y="2798064"/>
            <a:ext cx="228600" cy="64008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0" name="Web vertical"/>
          <p:cNvSpPr/>
          <p:nvPr/>
        </p:nvSpPr>
        <p:spPr>
          <a:xfrm>
            <a:off x="1143000" y="3090672"/>
            <a:ext cx="914" cy="118872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31" name="Web horizontal"/>
          <p:cNvSpPr/>
          <p:nvPr/>
        </p:nvSpPr>
        <p:spPr>
          <a:xfrm>
            <a:off x="1143000" y="4279392"/>
            <a:ext cx="5417820" cy="914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32" name="Web a backend"/>
          <p:cNvSpPr/>
          <p:nvPr/>
        </p:nvSpPr>
        <p:spPr>
          <a:xfrm flipV="1">
            <a:off x="6560820" y="3090672"/>
            <a:ext cx="914" cy="118872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triangle"/>
          </a:ln>
        </p:spPr>
      </p:sp>
      <p:sp>
        <p:nvSpPr>
          <p:cNvPr id="33" name="Etiqueta web"/>
          <p:cNvSpPr txBox="1"/>
          <p:nvPr/>
        </p:nvSpPr>
        <p:spPr>
          <a:xfrm>
            <a:off x="1280160" y="43251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Streamlit → mismo backend: agente y web dan el mismo resultado</a:t>
            </a:r>
            <a:endParaRPr lang="en-US" sz="1050" dirty="0"/>
          </a:p>
        </p:txBody>
      </p:sp>
      <p:sp>
        <p:nvSpPr>
          <p:cNvPr id="34" name="Leyenda"/>
          <p:cNvSpPr txBox="1"/>
          <p:nvPr/>
        </p:nvSpPr>
        <p:spPr>
          <a:xfrm>
            <a:off x="5806440" y="4325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discontinua: acceso indirecto. Todo en solo lectura.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DECIDE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Skill: un score de 0 a 100 explicable</a:t>
            </a:r>
            <a:endParaRPr lang="en-US" sz="2600" dirty="0"/>
          </a:p>
        </p:txBody>
      </p:sp>
      <p:sp>
        <p:nvSpPr>
          <p:cNvPr id="4" name="Tarjeta factores"/>
          <p:cNvSpPr/>
          <p:nvPr/>
        </p:nvSpPr>
        <p:spPr>
          <a:xfrm>
            <a:off x="457200" y="1325880"/>
            <a:ext cx="4206240" cy="3154680"/>
          </a:xfrm>
          <a:prstGeom prst="roundRect">
            <a:avLst>
              <a:gd name="adj" fmla="val 20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itular factores"/>
          <p:cNvSpPr txBox="1"/>
          <p:nvPr/>
        </p:nvSpPr>
        <p:spPr>
          <a:xfrm>
            <a:off x="658368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MÁXIMO DE CADA FACTOR</a:t>
            </a:r>
            <a:endParaRPr lang="en-US" sz="1000" dirty="0"/>
          </a:p>
        </p:txBody>
      </p:sp>
      <p:sp>
        <p:nvSpPr>
          <p:cNvPr id="6" name="Factor Esfuerzo financiero"/>
          <p:cNvSpPr txBox="1"/>
          <p:nvPr/>
        </p:nvSpPr>
        <p:spPr>
          <a:xfrm>
            <a:off x="658368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financiero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 / ingresos</a:t>
            </a:r>
            <a:endParaRPr lang="en-US" sz="1250" dirty="0"/>
          </a:p>
        </p:txBody>
      </p:sp>
      <p:sp>
        <p:nvSpPr>
          <p:cNvPr id="7" name="Pista Esfuerzo financiero"/>
          <p:cNvSpPr/>
          <p:nvPr/>
        </p:nvSpPr>
        <p:spPr>
          <a:xfrm>
            <a:off x="2331720" y="1956816"/>
            <a:ext cx="1828800" cy="24688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rra Esfuerzo financiero"/>
          <p:cNvSpPr/>
          <p:nvPr/>
        </p:nvSpPr>
        <p:spPr>
          <a:xfrm>
            <a:off x="2331720" y="1956816"/>
            <a:ext cx="1828800" cy="2468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eso Esfuerzo financiero"/>
          <p:cNvSpPr txBox="1"/>
          <p:nvPr/>
        </p:nvSpPr>
        <p:spPr>
          <a:xfrm>
            <a:off x="420624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300" dirty="0"/>
          </a:p>
        </p:txBody>
      </p:sp>
      <p:sp>
        <p:nvSpPr>
          <p:cNvPr id="10" name="Factor Tipo de interés"/>
          <p:cNvSpPr txBox="1"/>
          <p:nvPr/>
        </p:nvSpPr>
        <p:spPr>
          <a:xfrm>
            <a:off x="658368" y="2468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interés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del riesgo</a:t>
            </a:r>
            <a:endParaRPr lang="en-US" sz="1250" dirty="0"/>
          </a:p>
        </p:txBody>
      </p:sp>
      <p:sp>
        <p:nvSpPr>
          <p:cNvPr id="11" name="Pista Tipo de interés"/>
          <p:cNvSpPr/>
          <p:nvPr/>
        </p:nvSpPr>
        <p:spPr>
          <a:xfrm>
            <a:off x="2331720" y="2596896"/>
            <a:ext cx="1828800" cy="24688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rra Tipo de interés"/>
          <p:cNvSpPr/>
          <p:nvPr/>
        </p:nvSpPr>
        <p:spPr>
          <a:xfrm>
            <a:off x="2331720" y="2596896"/>
            <a:ext cx="1306286" cy="2468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eso Tipo de interés"/>
          <p:cNvSpPr txBox="1"/>
          <p:nvPr/>
        </p:nvSpPr>
        <p:spPr>
          <a:xfrm>
            <a:off x="4206240" y="2532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300" dirty="0"/>
          </a:p>
        </p:txBody>
      </p:sp>
      <p:sp>
        <p:nvSpPr>
          <p:cNvPr id="14" name="Factor Impago previo"/>
          <p:cNvSpPr txBox="1"/>
          <p:nvPr/>
        </p:nvSpPr>
        <p:spPr>
          <a:xfrm>
            <a:off x="658368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Impago previo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en buró</a:t>
            </a:r>
            <a:endParaRPr lang="en-US" sz="1250" dirty="0"/>
          </a:p>
        </p:txBody>
      </p:sp>
      <p:sp>
        <p:nvSpPr>
          <p:cNvPr id="15" name="Pista Impago previo"/>
          <p:cNvSpPr/>
          <p:nvPr/>
        </p:nvSpPr>
        <p:spPr>
          <a:xfrm>
            <a:off x="2331720" y="3236976"/>
            <a:ext cx="1828800" cy="24688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rra Impago previo"/>
          <p:cNvSpPr/>
          <p:nvPr/>
        </p:nvSpPr>
        <p:spPr>
          <a:xfrm>
            <a:off x="2331720" y="3236976"/>
            <a:ext cx="1045029" cy="2468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eso Impago previo"/>
          <p:cNvSpPr txBox="1"/>
          <p:nvPr/>
        </p:nvSpPr>
        <p:spPr>
          <a:xfrm>
            <a:off x="420624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8" name="Factor Grado A-G"/>
          <p:cNvSpPr txBox="1"/>
          <p:nvPr/>
        </p:nvSpPr>
        <p:spPr>
          <a:xfrm>
            <a:off x="658368" y="3749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A-G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</a:t>
            </a:r>
            <a:endParaRPr lang="en-US" sz="1250" dirty="0"/>
          </a:p>
        </p:txBody>
      </p:sp>
      <p:sp>
        <p:nvSpPr>
          <p:cNvPr id="19" name="Pista Grado A-G"/>
          <p:cNvSpPr/>
          <p:nvPr/>
        </p:nvSpPr>
        <p:spPr>
          <a:xfrm>
            <a:off x="2331720" y="3877056"/>
            <a:ext cx="1828800" cy="24688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rra Grado A-G"/>
          <p:cNvSpPr/>
          <p:nvPr/>
        </p:nvSpPr>
        <p:spPr>
          <a:xfrm>
            <a:off x="2331720" y="3877056"/>
            <a:ext cx="1045029" cy="2468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eso Grado A-G"/>
          <p:cNvSpPr txBox="1"/>
          <p:nvPr/>
        </p:nvSpPr>
        <p:spPr>
          <a:xfrm>
            <a:off x="42062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22" name="Matriz BAJO"/>
          <p:cNvSpPr/>
          <p:nvPr/>
        </p:nvSpPr>
        <p:spPr>
          <a:xfrm>
            <a:off x="4892040" y="1325880"/>
            <a:ext cx="3794760" cy="960120"/>
          </a:xfrm>
          <a:prstGeom prst="roundRect">
            <a:avLst>
              <a:gd name="adj" fmla="val 6667"/>
            </a:avLst>
          </a:prstGeom>
          <a:solidFill>
            <a:srgbClr val="E2F1E7"/>
          </a:solidFill>
          <a:ln w="9525">
            <a:solidFill>
              <a:srgbClr val="E2F1E7"/>
            </a:solidFill>
            <a:prstDash val="solid"/>
          </a:ln>
        </p:spPr>
      </p:sp>
      <p:sp>
        <p:nvSpPr>
          <p:cNvPr id="23" name="Pastilla BAJO"/>
          <p:cNvSpPr/>
          <p:nvPr/>
        </p:nvSpPr>
        <p:spPr>
          <a:xfrm>
            <a:off x="5074920" y="1463040"/>
            <a:ext cx="1001268" cy="246888"/>
          </a:xfrm>
          <a:prstGeom prst="roundRect">
            <a:avLst>
              <a:gd name="adj" fmla="val 48148"/>
            </a:avLst>
          </a:prstGeom>
          <a:solidFill>
            <a:srgbClr val="E2F1E7"/>
          </a:solidFill>
          <a:ln w="12700">
            <a:solidFill>
              <a:srgbClr val="E2F1E7"/>
            </a:solidFill>
            <a:prstDash val="solid"/>
          </a:ln>
        </p:spPr>
      </p:sp>
      <p:sp>
        <p:nvSpPr>
          <p:cNvPr id="24" name="Texto pastilla BAJO"/>
          <p:cNvSpPr txBox="1"/>
          <p:nvPr/>
        </p:nvSpPr>
        <p:spPr>
          <a:xfrm>
            <a:off x="5074920" y="1463040"/>
            <a:ext cx="10012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· &lt; 30</a:t>
            </a:r>
            <a:endParaRPr lang="en-US" sz="1000" dirty="0"/>
          </a:p>
        </p:txBody>
      </p:sp>
      <p:sp>
        <p:nvSpPr>
          <p:cNvPr id="25" name="Acción BAJO"/>
          <p:cNvSpPr txBox="1"/>
          <p:nvPr/>
        </p:nvSpPr>
        <p:spPr>
          <a:xfrm>
            <a:off x="507492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preventivo amigable</a:t>
            </a:r>
            <a:endParaRPr lang="en-US" sz="1200" dirty="0"/>
          </a:p>
        </p:txBody>
      </p:sp>
      <p:sp>
        <p:nvSpPr>
          <p:cNvPr id="26" name="Matriz MODERADO"/>
          <p:cNvSpPr/>
          <p:nvPr/>
        </p:nvSpPr>
        <p:spPr>
          <a:xfrm>
            <a:off x="4892040" y="2404872"/>
            <a:ext cx="3794760" cy="960120"/>
          </a:xfrm>
          <a:prstGeom prst="roundRect">
            <a:avLst>
              <a:gd name="adj" fmla="val 6667"/>
            </a:avLst>
          </a:prstGeom>
          <a:solidFill>
            <a:srgbClr val="F8EBD3"/>
          </a:solidFill>
          <a:ln w="9525">
            <a:solidFill>
              <a:srgbClr val="F8EBD3"/>
            </a:solidFill>
            <a:prstDash val="solid"/>
          </a:ln>
        </p:spPr>
      </p:sp>
      <p:sp>
        <p:nvSpPr>
          <p:cNvPr id="27" name="Pastilla MODERADO"/>
          <p:cNvSpPr/>
          <p:nvPr/>
        </p:nvSpPr>
        <p:spPr>
          <a:xfrm>
            <a:off x="5074920" y="2542032"/>
            <a:ext cx="1389888" cy="246888"/>
          </a:xfrm>
          <a:prstGeom prst="roundRect">
            <a:avLst>
              <a:gd name="adj" fmla="val 48148"/>
            </a:avLst>
          </a:prstGeom>
          <a:solidFill>
            <a:srgbClr val="F8EBD3"/>
          </a:solidFill>
          <a:ln w="12700">
            <a:solidFill>
              <a:srgbClr val="F8EBD3"/>
            </a:solidFill>
            <a:prstDash val="solid"/>
          </a:ln>
        </p:spPr>
      </p:sp>
      <p:sp>
        <p:nvSpPr>
          <p:cNvPr id="28" name="Texto pastilla MODERADO"/>
          <p:cNvSpPr txBox="1"/>
          <p:nvPr/>
        </p:nvSpPr>
        <p:spPr>
          <a:xfrm>
            <a:off x="5074920" y="2542032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· 30-65</a:t>
            </a:r>
            <a:endParaRPr lang="en-US" sz="1000" dirty="0"/>
          </a:p>
        </p:txBody>
      </p:sp>
      <p:sp>
        <p:nvSpPr>
          <p:cNvPr id="29" name="Acción MODERADO"/>
          <p:cNvSpPr txBox="1"/>
          <p:nvPr/>
        </p:nvSpPr>
        <p:spPr>
          <a:xfrm>
            <a:off x="5074920" y="28620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ampliación de crédito y plan en 3 cuotas</a:t>
            </a:r>
            <a:endParaRPr lang="en-US" sz="1200" dirty="0"/>
          </a:p>
        </p:txBody>
      </p:sp>
      <p:sp>
        <p:nvSpPr>
          <p:cNvPr id="30" name="Matriz CRÍTICO"/>
          <p:cNvSpPr/>
          <p:nvPr/>
        </p:nvSpPr>
        <p:spPr>
          <a:xfrm>
            <a:off x="4892040" y="3483864"/>
            <a:ext cx="3794760" cy="960120"/>
          </a:xfrm>
          <a:prstGeom prst="roundRect">
            <a:avLst>
              <a:gd name="adj" fmla="val 6667"/>
            </a:avLst>
          </a:prstGeom>
          <a:solidFill>
            <a:srgbClr val="F9E1DE"/>
          </a:solidFill>
          <a:ln w="9525">
            <a:solidFill>
              <a:srgbClr val="F9E1DE"/>
            </a:solidFill>
            <a:prstDash val="solid"/>
          </a:ln>
        </p:spPr>
      </p:sp>
      <p:sp>
        <p:nvSpPr>
          <p:cNvPr id="31" name="Pastilla CRÍTICO"/>
          <p:cNvSpPr/>
          <p:nvPr/>
        </p:nvSpPr>
        <p:spPr>
          <a:xfrm>
            <a:off x="5074920" y="3621024"/>
            <a:ext cx="1234440" cy="246888"/>
          </a:xfrm>
          <a:prstGeom prst="roundRect">
            <a:avLst>
              <a:gd name="adj" fmla="val 48148"/>
            </a:avLst>
          </a:prstGeom>
          <a:solidFill>
            <a:srgbClr val="F9E1DE"/>
          </a:solidFill>
          <a:ln w="12700">
            <a:solidFill>
              <a:srgbClr val="F9E1DE"/>
            </a:solidFill>
            <a:prstDash val="solid"/>
          </a:ln>
        </p:spPr>
      </p:sp>
      <p:sp>
        <p:nvSpPr>
          <p:cNvPr id="32" name="Texto pastilla CRÍTICO"/>
          <p:cNvSpPr txBox="1"/>
          <p:nvPr/>
        </p:nvSpPr>
        <p:spPr>
          <a:xfrm>
            <a:off x="5074920" y="3621024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· &gt; 65</a:t>
            </a:r>
            <a:endParaRPr lang="en-US" sz="1000" dirty="0"/>
          </a:p>
        </p:txBody>
      </p:sp>
      <p:sp>
        <p:nvSpPr>
          <p:cNvPr id="33" name="Acción CRÍTICO"/>
          <p:cNvSpPr txBox="1"/>
          <p:nvPr/>
        </p:nvSpPr>
        <p:spPr>
          <a:xfrm>
            <a:off x="5074920" y="39410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Suspensión temporal y borrador de reclamación legal · requiere autorización humana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Cuanto más alta la categoría, más impagos reales</a:t>
            </a:r>
            <a:endParaRPr lang="en-US" sz="2600" dirty="0"/>
          </a:p>
        </p:txBody>
      </p:sp>
      <p:sp>
        <p:nvSpPr>
          <p:cNvPr id="4" name="Tarjeta tabla"/>
          <p:cNvSpPr/>
          <p:nvPr/>
        </p:nvSpPr>
        <p:spPr>
          <a:xfrm>
            <a:off x="457200" y="1325880"/>
            <a:ext cx="4663440" cy="2103120"/>
          </a:xfrm>
          <a:prstGeom prst="roundRect">
            <a:avLst>
              <a:gd name="adj" fmla="val 30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graphicFrame>
        <p:nvGraphicFramePr>
          <p:cNvPr id="7" name="Tabla validació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4443984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841248"/>
                <a:gridCol w="896112"/>
                <a:gridCol w="786384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PRÉSTAMOS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CARTERA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IMPAGO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19.746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60,6 %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161,3 M$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8,2 %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11.674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35,8 %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132,4 M$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39,8 %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1.161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3,6 %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18,8 M$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72,1 %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arjeta barras"/>
          <p:cNvSpPr/>
          <p:nvPr/>
        </p:nvSpPr>
        <p:spPr>
          <a:xfrm>
            <a:off x="5349240" y="1325880"/>
            <a:ext cx="3337560" cy="2103120"/>
          </a:xfrm>
          <a:prstGeom prst="roundRect">
            <a:avLst>
              <a:gd name="adj" fmla="val 304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itular barras"/>
          <p:cNvSpPr txBox="1"/>
          <p:nvPr/>
        </p:nvSpPr>
        <p:spPr>
          <a:xfrm>
            <a:off x="5532120" y="1444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IMPAGO REAL · ESCALA 0-100 %</a:t>
            </a:r>
            <a:endParaRPr lang="en-US" sz="900" dirty="0"/>
          </a:p>
        </p:txBody>
      </p:sp>
      <p:sp>
        <p:nvSpPr>
          <p:cNvPr id="8" name="Etiqueta barra BAJO"/>
          <p:cNvSpPr txBox="1"/>
          <p:nvPr/>
        </p:nvSpPr>
        <p:spPr>
          <a:xfrm>
            <a:off x="5532120" y="1828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000" dirty="0"/>
          </a:p>
        </p:txBody>
      </p:sp>
      <p:sp>
        <p:nvSpPr>
          <p:cNvPr id="9" name="Pista BAJO"/>
          <p:cNvSpPr/>
          <p:nvPr/>
        </p:nvSpPr>
        <p:spPr>
          <a:xfrm>
            <a:off x="6446520" y="1847088"/>
            <a:ext cx="2057400" cy="23774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rra BAJO"/>
          <p:cNvSpPr/>
          <p:nvPr/>
        </p:nvSpPr>
        <p:spPr>
          <a:xfrm>
            <a:off x="6446520" y="1847088"/>
            <a:ext cx="168707" cy="23774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Valor barra BAJO"/>
          <p:cNvSpPr txBox="1"/>
          <p:nvPr/>
        </p:nvSpPr>
        <p:spPr>
          <a:xfrm>
            <a:off x="6660947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8,2 %</a:t>
            </a:r>
            <a:endParaRPr lang="en-US" sz="1000" dirty="0"/>
          </a:p>
        </p:txBody>
      </p:sp>
      <p:sp>
        <p:nvSpPr>
          <p:cNvPr id="12" name="Etiqueta barra MODERADO"/>
          <p:cNvSpPr txBox="1"/>
          <p:nvPr/>
        </p:nvSpPr>
        <p:spPr>
          <a:xfrm>
            <a:off x="5532120" y="23317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1000" dirty="0"/>
          </a:p>
        </p:txBody>
      </p:sp>
      <p:sp>
        <p:nvSpPr>
          <p:cNvPr id="13" name="Pista MODERADO"/>
          <p:cNvSpPr/>
          <p:nvPr/>
        </p:nvSpPr>
        <p:spPr>
          <a:xfrm>
            <a:off x="6446520" y="2350008"/>
            <a:ext cx="2057400" cy="23774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rra MODERADO"/>
          <p:cNvSpPr/>
          <p:nvPr/>
        </p:nvSpPr>
        <p:spPr>
          <a:xfrm>
            <a:off x="6446520" y="2350008"/>
            <a:ext cx="818845" cy="23774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Valor barra MODERADO"/>
          <p:cNvSpPr txBox="1"/>
          <p:nvPr/>
        </p:nvSpPr>
        <p:spPr>
          <a:xfrm>
            <a:off x="7311085" y="2331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39,8 %</a:t>
            </a:r>
            <a:endParaRPr lang="en-US" sz="1000" dirty="0"/>
          </a:p>
        </p:txBody>
      </p:sp>
      <p:sp>
        <p:nvSpPr>
          <p:cNvPr id="16" name="Etiqueta barra CRÍTICO"/>
          <p:cNvSpPr txBox="1"/>
          <p:nvPr/>
        </p:nvSpPr>
        <p:spPr>
          <a:xfrm>
            <a:off x="5532120" y="2834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sp>
        <p:nvSpPr>
          <p:cNvPr id="17" name="Pista CRÍTICO"/>
          <p:cNvSpPr/>
          <p:nvPr/>
        </p:nvSpPr>
        <p:spPr>
          <a:xfrm>
            <a:off x="6446520" y="2852928"/>
            <a:ext cx="2057400" cy="23774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rra CRÍTICO"/>
          <p:cNvSpPr/>
          <p:nvPr/>
        </p:nvSpPr>
        <p:spPr>
          <a:xfrm>
            <a:off x="6446520" y="2852928"/>
            <a:ext cx="1483385" cy="23774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Valor barra CRÍTICO"/>
          <p:cNvSpPr txBox="1"/>
          <p:nvPr/>
        </p:nvSpPr>
        <p:spPr>
          <a:xfrm>
            <a:off x="7975625" y="2834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72,1 %</a:t>
            </a:r>
            <a:endParaRPr lang="en-US" sz="1000" dirty="0"/>
          </a:p>
        </p:txBody>
      </p:sp>
      <p:sp>
        <p:nvSpPr>
          <p:cNvPr id="20" name="Dato AUC: el score ordena bien el riesgo"/>
          <p:cNvSpPr/>
          <p:nvPr/>
        </p:nvSpPr>
        <p:spPr>
          <a:xfrm>
            <a:off x="457200" y="3611880"/>
            <a:ext cx="2651760" cy="868680"/>
          </a:xfrm>
          <a:prstGeom prst="roundRect">
            <a:avLst>
              <a:gd name="adj" fmla="val 736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Valor AUC: el score ordena bien el riesgo"/>
          <p:cNvSpPr txBox="1"/>
          <p:nvPr/>
        </p:nvSpPr>
        <p:spPr>
          <a:xfrm>
            <a:off x="640080" y="3675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0,793</a:t>
            </a:r>
            <a:endParaRPr lang="en-US" sz="2000" dirty="0"/>
          </a:p>
        </p:txBody>
      </p:sp>
      <p:sp>
        <p:nvSpPr>
          <p:cNvPr id="22" name="Texto AUC: el score ordena bien el riesgo"/>
          <p:cNvSpPr txBox="1"/>
          <p:nvPr/>
        </p:nvSpPr>
        <p:spPr>
          <a:xfrm>
            <a:off x="64008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el score ordena bien el riesgo</a:t>
            </a:r>
            <a:endParaRPr lang="en-US" sz="1100" dirty="0"/>
          </a:p>
        </p:txBody>
      </p:sp>
      <p:sp>
        <p:nvSpPr>
          <p:cNvPr id="23" name="Dato la media de impago en CRÍTICO"/>
          <p:cNvSpPr/>
          <p:nvPr/>
        </p:nvSpPr>
        <p:spPr>
          <a:xfrm>
            <a:off x="3246120" y="3611880"/>
            <a:ext cx="2651760" cy="868680"/>
          </a:xfrm>
          <a:prstGeom prst="roundRect">
            <a:avLst>
              <a:gd name="adj" fmla="val 736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Valor la media de impago en CRÍTICO"/>
          <p:cNvSpPr txBox="1"/>
          <p:nvPr/>
        </p:nvSpPr>
        <p:spPr>
          <a:xfrm>
            <a:off x="3429000" y="3675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3,3×</a:t>
            </a:r>
            <a:endParaRPr lang="en-US" sz="2000" dirty="0"/>
          </a:p>
        </p:txBody>
      </p:sp>
      <p:sp>
        <p:nvSpPr>
          <p:cNvPr id="25" name="Texto la media de impago en CRÍTICO"/>
          <p:cNvSpPr txBox="1"/>
          <p:nvPr/>
        </p:nvSpPr>
        <p:spPr>
          <a:xfrm>
            <a:off x="342900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 de impago en CRÍTICO</a:t>
            </a:r>
            <a:endParaRPr lang="en-US" sz="1100" dirty="0"/>
          </a:p>
        </p:txBody>
      </p:sp>
      <p:sp>
        <p:nvSpPr>
          <p:cNvPr id="26" name="Dato de los impagos caen en MODERADO + CRÍTICO"/>
          <p:cNvSpPr/>
          <p:nvPr/>
        </p:nvSpPr>
        <p:spPr>
          <a:xfrm>
            <a:off x="6035040" y="3611880"/>
            <a:ext cx="2651760" cy="868680"/>
          </a:xfrm>
          <a:prstGeom prst="roundRect">
            <a:avLst>
              <a:gd name="adj" fmla="val 736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Valor de los impagos caen en MODERADO + CRÍTICO"/>
          <p:cNvSpPr txBox="1"/>
          <p:nvPr/>
        </p:nvSpPr>
        <p:spPr>
          <a:xfrm>
            <a:off x="6217920" y="3675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77 %</a:t>
            </a:r>
            <a:endParaRPr lang="en-US" sz="2000" dirty="0"/>
          </a:p>
        </p:txBody>
      </p:sp>
      <p:sp>
        <p:nvSpPr>
          <p:cNvPr id="28" name="Texto de los impagos caen en MODERADO + CRÍTICO"/>
          <p:cNvSpPr txBox="1"/>
          <p:nvPr/>
        </p:nvSpPr>
        <p:spPr>
          <a:xfrm>
            <a:off x="621792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impagos caen en MODERADO + CRÍTICO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EN ACCIÓN · 5 DE LOS 20 PRÉSTAMOS ANALIZADOS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«Analiza los 20 préstamos de mayor importe»</a:t>
            </a:r>
            <a:endParaRPr lang="en-US" sz="2600" dirty="0"/>
          </a:p>
        </p:txBody>
      </p:sp>
      <p:sp>
        <p:nvSpPr>
          <p:cNvPr id="4" name="Resumen CRÍTICO"/>
          <p:cNvSpPr/>
          <p:nvPr/>
        </p:nvSpPr>
        <p:spPr>
          <a:xfrm>
            <a:off x="457200" y="1298448"/>
            <a:ext cx="2651760" cy="749808"/>
          </a:xfrm>
          <a:prstGeom prst="roundRect">
            <a:avLst>
              <a:gd name="adj" fmla="val 853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Número CRÍTICO"/>
          <p:cNvSpPr txBox="1"/>
          <p:nvPr/>
        </p:nvSpPr>
        <p:spPr>
          <a:xfrm>
            <a:off x="640080" y="135331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o CRÍTICO"/>
          <p:cNvSpPr txBox="1"/>
          <p:nvPr/>
        </p:nvSpPr>
        <p:spPr>
          <a:xfrm>
            <a:off x="1234440" y="13533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70.000 $ · 2 de 2 impagaron</a:t>
            </a:r>
            <a:endParaRPr lang="en-US" sz="1100" dirty="0"/>
          </a:p>
        </p:txBody>
      </p:sp>
      <p:sp>
        <p:nvSpPr>
          <p:cNvPr id="7" name="Resumen MODERADO"/>
          <p:cNvSpPr/>
          <p:nvPr/>
        </p:nvSpPr>
        <p:spPr>
          <a:xfrm>
            <a:off x="3246120" y="1298448"/>
            <a:ext cx="2651760" cy="749808"/>
          </a:xfrm>
          <a:prstGeom prst="roundRect">
            <a:avLst>
              <a:gd name="adj" fmla="val 853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Número MODERADO"/>
          <p:cNvSpPr txBox="1"/>
          <p:nvPr/>
        </p:nvSpPr>
        <p:spPr>
          <a:xfrm>
            <a:off x="3429000" y="135331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o MODERADO"/>
          <p:cNvSpPr txBox="1"/>
          <p:nvPr/>
        </p:nvSpPr>
        <p:spPr>
          <a:xfrm>
            <a:off x="4023360" y="13533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350.000 $ · 8 de 10 impagaron</a:t>
            </a:r>
            <a:endParaRPr lang="en-US" sz="1100" dirty="0"/>
          </a:p>
        </p:txBody>
      </p:sp>
      <p:sp>
        <p:nvSpPr>
          <p:cNvPr id="10" name="Resumen BAJO"/>
          <p:cNvSpPr/>
          <p:nvPr/>
        </p:nvSpPr>
        <p:spPr>
          <a:xfrm>
            <a:off x="6035040" y="1298448"/>
            <a:ext cx="2651760" cy="749808"/>
          </a:xfrm>
          <a:prstGeom prst="roundRect">
            <a:avLst>
              <a:gd name="adj" fmla="val 853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Número BAJO"/>
          <p:cNvSpPr txBox="1"/>
          <p:nvPr/>
        </p:nvSpPr>
        <p:spPr>
          <a:xfrm>
            <a:off x="6217920" y="135331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600" dirty="0"/>
          </a:p>
        </p:txBody>
      </p:sp>
      <p:sp>
        <p:nvSpPr>
          <p:cNvPr id="12" name="Texto BAJO"/>
          <p:cNvSpPr txBox="1"/>
          <p:nvPr/>
        </p:nvSpPr>
        <p:spPr>
          <a:xfrm>
            <a:off x="6812280" y="135331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280.000 $ · 2 de 8 impagaron</a:t>
            </a:r>
            <a:endParaRPr lang="en-US" sz="1100" dirty="0"/>
          </a:p>
        </p:txBody>
      </p:sp>
      <p:sp>
        <p:nvSpPr>
          <p:cNvPr id="13" name="Tarjeta tabla agente"/>
          <p:cNvSpPr/>
          <p:nvPr/>
        </p:nvSpPr>
        <p:spPr>
          <a:xfrm>
            <a:off x="457200" y="2176272"/>
            <a:ext cx="8229600" cy="2468880"/>
          </a:xfrm>
          <a:prstGeom prst="roundRect">
            <a:avLst>
              <a:gd name="adj" fmla="val 259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graphicFrame>
        <p:nvGraphicFramePr>
          <p:cNvPr id="8" name="Tabla agen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58568"/>
          <a:ext cx="8010144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34440"/>
                <a:gridCol w="640080"/>
                <a:gridCol w="685800"/>
                <a:gridCol w="1005840"/>
                <a:gridCol w="2980944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FINALIDAD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PROPUESTA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IMPAGO REAL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84,31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Suspensión + reclamación legal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 de autorización humana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75,88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Suspensión + reclamación legal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 de autorización humana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1D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62,58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Congelar crédito + plan en 3 cuotas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58,00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Congelar crédito + plan en 3 cuotas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Emprendimiento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29,93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Recordatorio amigable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EL RIESGO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Importe en riesgo crítico por finalidad del préstamo</a:t>
            </a:r>
            <a:endParaRPr lang="en-US" sz="2600" dirty="0"/>
          </a:p>
        </p:txBody>
      </p:sp>
      <p:sp>
        <p:nvSpPr>
          <p:cNvPr id="4" name="Tarjeta finalidad"/>
          <p:cNvSpPr/>
          <p:nvPr/>
        </p:nvSpPr>
        <p:spPr>
          <a:xfrm>
            <a:off x="457200" y="1325880"/>
            <a:ext cx="8229600" cy="3154680"/>
          </a:xfrm>
          <a:prstGeom prst="roundRect">
            <a:avLst>
              <a:gd name="adj" fmla="val 20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Cabecera impago"/>
          <p:cNvSpPr txBox="1"/>
          <p:nvPr/>
        </p:nvSpPr>
        <p:spPr>
          <a:xfrm>
            <a:off x="7635240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IMPAGO REAL</a:t>
            </a:r>
            <a:endParaRPr lang="en-US" sz="900" dirty="0"/>
          </a:p>
        </p:txBody>
      </p:sp>
      <p:sp>
        <p:nvSpPr>
          <p:cNvPr id="6" name="Finalidad Médica"/>
          <p:cNvSpPr txBox="1"/>
          <p:nvPr/>
        </p:nvSpPr>
        <p:spPr>
          <a:xfrm>
            <a:off x="658368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críticos</a:t>
            </a:r>
            <a:endParaRPr lang="en-US" sz="1150" dirty="0"/>
          </a:p>
        </p:txBody>
      </p:sp>
      <p:sp>
        <p:nvSpPr>
          <p:cNvPr id="7" name="Pista Médica"/>
          <p:cNvSpPr/>
          <p:nvPr/>
        </p:nvSpPr>
        <p:spPr>
          <a:xfrm>
            <a:off x="2468880" y="1810512"/>
            <a:ext cx="3566160" cy="23774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rra Médica"/>
          <p:cNvSpPr/>
          <p:nvPr/>
        </p:nvSpPr>
        <p:spPr>
          <a:xfrm>
            <a:off x="2468880" y="1810512"/>
            <a:ext cx="3566160" cy="237744"/>
          </a:xfrm>
          <a:prstGeom prst="rect">
            <a:avLst/>
          </a:prstGeom>
          <a:solidFill>
            <a:schemeClr val="accent4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Importe Médica"/>
          <p:cNvSpPr txBox="1"/>
          <p:nvPr/>
        </p:nvSpPr>
        <p:spPr>
          <a:xfrm>
            <a:off x="6126480" y="1737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3.521.325 $</a:t>
            </a:r>
            <a:endParaRPr lang="en-US" sz="1050" dirty="0"/>
          </a:p>
        </p:txBody>
      </p:sp>
      <p:sp>
        <p:nvSpPr>
          <p:cNvPr id="10" name="Tasa Médica"/>
          <p:cNvSpPr txBox="1"/>
          <p:nvPr/>
        </p:nvSpPr>
        <p:spPr>
          <a:xfrm>
            <a:off x="7635240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87,4 %</a:t>
            </a:r>
            <a:endParaRPr lang="en-US" sz="1050" dirty="0"/>
          </a:p>
        </p:txBody>
      </p:sp>
      <p:sp>
        <p:nvSpPr>
          <p:cNvPr id="11" name="Finalidad Educación"/>
          <p:cNvSpPr txBox="1"/>
          <p:nvPr/>
        </p:nvSpPr>
        <p:spPr>
          <a:xfrm>
            <a:off x="658368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críticos</a:t>
            </a:r>
            <a:endParaRPr lang="en-US" sz="1150" dirty="0"/>
          </a:p>
        </p:txBody>
      </p:sp>
      <p:sp>
        <p:nvSpPr>
          <p:cNvPr id="12" name="Pista Educación"/>
          <p:cNvSpPr/>
          <p:nvPr/>
        </p:nvSpPr>
        <p:spPr>
          <a:xfrm>
            <a:off x="2468880" y="2249424"/>
            <a:ext cx="3566160" cy="23774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rra Educación"/>
          <p:cNvSpPr/>
          <p:nvPr/>
        </p:nvSpPr>
        <p:spPr>
          <a:xfrm>
            <a:off x="2468880" y="2249424"/>
            <a:ext cx="3371336" cy="237744"/>
          </a:xfrm>
          <a:prstGeom prst="rect">
            <a:avLst/>
          </a:prstGeom>
          <a:solidFill>
            <a:schemeClr val="accent4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Importe Educación"/>
          <p:cNvSpPr txBox="1"/>
          <p:nvPr/>
        </p:nvSpPr>
        <p:spPr>
          <a:xfrm>
            <a:off x="6126480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3.328.950 $</a:t>
            </a:r>
            <a:endParaRPr lang="en-US" sz="1050" dirty="0"/>
          </a:p>
        </p:txBody>
      </p:sp>
      <p:sp>
        <p:nvSpPr>
          <p:cNvPr id="15" name="Tasa Educación"/>
          <p:cNvSpPr txBox="1"/>
          <p:nvPr/>
        </p:nvSpPr>
        <p:spPr>
          <a:xfrm>
            <a:off x="7635240" y="21762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60,9 %</a:t>
            </a:r>
            <a:endParaRPr lang="en-US" sz="1050" dirty="0"/>
          </a:p>
        </p:txBody>
      </p:sp>
      <p:sp>
        <p:nvSpPr>
          <p:cNvPr id="16" name="Finalidad Consolidación de deuda"/>
          <p:cNvSpPr txBox="1"/>
          <p:nvPr/>
        </p:nvSpPr>
        <p:spPr>
          <a:xfrm>
            <a:off x="658368" y="26151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de deuda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críticos</a:t>
            </a:r>
            <a:endParaRPr lang="en-US" sz="1150" dirty="0"/>
          </a:p>
        </p:txBody>
      </p:sp>
      <p:sp>
        <p:nvSpPr>
          <p:cNvPr id="17" name="Pista Consolidación de deuda"/>
          <p:cNvSpPr/>
          <p:nvPr/>
        </p:nvSpPr>
        <p:spPr>
          <a:xfrm>
            <a:off x="2468880" y="2688336"/>
            <a:ext cx="3566160" cy="23774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rra Consolidación de deuda"/>
          <p:cNvSpPr/>
          <p:nvPr/>
        </p:nvSpPr>
        <p:spPr>
          <a:xfrm>
            <a:off x="2468880" y="2688336"/>
            <a:ext cx="3299609" cy="237744"/>
          </a:xfrm>
          <a:prstGeom prst="rect">
            <a:avLst/>
          </a:prstGeom>
          <a:solidFill>
            <a:schemeClr val="accent4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Importe Consolidación de deuda"/>
          <p:cNvSpPr txBox="1"/>
          <p:nvPr/>
        </p:nvSpPr>
        <p:spPr>
          <a:xfrm>
            <a:off x="6126480" y="26151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3.258.125 $</a:t>
            </a:r>
            <a:endParaRPr lang="en-US" sz="1050" dirty="0"/>
          </a:p>
        </p:txBody>
      </p:sp>
      <p:sp>
        <p:nvSpPr>
          <p:cNvPr id="20" name="Tasa Consolidación de deuda"/>
          <p:cNvSpPr txBox="1"/>
          <p:nvPr/>
        </p:nvSpPr>
        <p:spPr>
          <a:xfrm>
            <a:off x="7635240" y="26151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95,9 %</a:t>
            </a:r>
            <a:endParaRPr lang="en-US" sz="1050" dirty="0"/>
          </a:p>
        </p:txBody>
      </p:sp>
      <p:sp>
        <p:nvSpPr>
          <p:cNvPr id="21" name="Finalidad Emprendimiento"/>
          <p:cNvSpPr txBox="1"/>
          <p:nvPr/>
        </p:nvSpPr>
        <p:spPr>
          <a:xfrm>
            <a:off x="658368" y="30540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Emprendimiento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críticos</a:t>
            </a:r>
            <a:endParaRPr lang="en-US" sz="1150" dirty="0"/>
          </a:p>
        </p:txBody>
      </p:sp>
      <p:sp>
        <p:nvSpPr>
          <p:cNvPr id="22" name="Pista Emprendimiento"/>
          <p:cNvSpPr/>
          <p:nvPr/>
        </p:nvSpPr>
        <p:spPr>
          <a:xfrm>
            <a:off x="2468880" y="3127248"/>
            <a:ext cx="3566160" cy="23774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Barra Emprendimiento"/>
          <p:cNvSpPr/>
          <p:nvPr/>
        </p:nvSpPr>
        <p:spPr>
          <a:xfrm>
            <a:off x="2468880" y="3127248"/>
            <a:ext cx="3248567" cy="237744"/>
          </a:xfrm>
          <a:prstGeom prst="rect">
            <a:avLst/>
          </a:prstGeom>
          <a:solidFill>
            <a:schemeClr val="accent4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Importe Emprendimiento"/>
          <p:cNvSpPr txBox="1"/>
          <p:nvPr/>
        </p:nvSpPr>
        <p:spPr>
          <a:xfrm>
            <a:off x="6126480" y="30540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3.207.725 $</a:t>
            </a:r>
            <a:endParaRPr lang="en-US" sz="1050" dirty="0"/>
          </a:p>
        </p:txBody>
      </p:sp>
      <p:sp>
        <p:nvSpPr>
          <p:cNvPr id="25" name="Tasa Emprendimiento"/>
          <p:cNvSpPr txBox="1"/>
          <p:nvPr/>
        </p:nvSpPr>
        <p:spPr>
          <a:xfrm>
            <a:off x="7635240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56,3 %</a:t>
            </a:r>
            <a:endParaRPr lang="en-US" sz="1050" dirty="0"/>
          </a:p>
        </p:txBody>
      </p:sp>
      <p:sp>
        <p:nvSpPr>
          <p:cNvPr id="26" name="Finalidad Personal"/>
          <p:cNvSpPr txBox="1"/>
          <p:nvPr/>
        </p:nvSpPr>
        <p:spPr>
          <a:xfrm>
            <a:off x="658368" y="34930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críticos</a:t>
            </a:r>
            <a:endParaRPr lang="en-US" sz="1150" dirty="0"/>
          </a:p>
        </p:txBody>
      </p:sp>
      <p:sp>
        <p:nvSpPr>
          <p:cNvPr id="27" name="Pista Personal"/>
          <p:cNvSpPr/>
          <p:nvPr/>
        </p:nvSpPr>
        <p:spPr>
          <a:xfrm>
            <a:off x="2468880" y="3566160"/>
            <a:ext cx="3566160" cy="23774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rra Personal"/>
          <p:cNvSpPr/>
          <p:nvPr/>
        </p:nvSpPr>
        <p:spPr>
          <a:xfrm>
            <a:off x="2468880" y="3566160"/>
            <a:ext cx="3181853" cy="237744"/>
          </a:xfrm>
          <a:prstGeom prst="rect">
            <a:avLst/>
          </a:prstGeom>
          <a:solidFill>
            <a:schemeClr val="accent4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Importe Personal"/>
          <p:cNvSpPr txBox="1"/>
          <p:nvPr/>
        </p:nvSpPr>
        <p:spPr>
          <a:xfrm>
            <a:off x="6126480" y="3493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3.141.850 $</a:t>
            </a:r>
            <a:endParaRPr lang="en-US" sz="1050" dirty="0"/>
          </a:p>
        </p:txBody>
      </p:sp>
      <p:sp>
        <p:nvSpPr>
          <p:cNvPr id="30" name="Tasa Personal"/>
          <p:cNvSpPr txBox="1"/>
          <p:nvPr/>
        </p:nvSpPr>
        <p:spPr>
          <a:xfrm>
            <a:off x="7635240" y="34930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61,7 %</a:t>
            </a:r>
            <a:endParaRPr lang="en-US" sz="1050" dirty="0"/>
          </a:p>
        </p:txBody>
      </p:sp>
      <p:sp>
        <p:nvSpPr>
          <p:cNvPr id="31" name="Finalidad Reforma del hogar"/>
          <p:cNvSpPr txBox="1"/>
          <p:nvPr/>
        </p:nvSpPr>
        <p:spPr>
          <a:xfrm>
            <a:off x="658368" y="3931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del hogar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críticos</a:t>
            </a:r>
            <a:endParaRPr lang="en-US" sz="1150" dirty="0"/>
          </a:p>
        </p:txBody>
      </p:sp>
      <p:sp>
        <p:nvSpPr>
          <p:cNvPr id="32" name="Pista Reforma del hogar"/>
          <p:cNvSpPr/>
          <p:nvPr/>
        </p:nvSpPr>
        <p:spPr>
          <a:xfrm>
            <a:off x="2468880" y="4005072"/>
            <a:ext cx="3566160" cy="23774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Barra Reforma del hogar"/>
          <p:cNvSpPr/>
          <p:nvPr/>
        </p:nvSpPr>
        <p:spPr>
          <a:xfrm>
            <a:off x="2468880" y="4005072"/>
            <a:ext cx="2371642" cy="237744"/>
          </a:xfrm>
          <a:prstGeom prst="rect">
            <a:avLst/>
          </a:prstGeom>
          <a:solidFill>
            <a:schemeClr val="accent4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Importe Reforma del hogar"/>
          <p:cNvSpPr txBox="1"/>
          <p:nvPr/>
        </p:nvSpPr>
        <p:spPr>
          <a:xfrm>
            <a:off x="6126480" y="3931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2.341.825 $</a:t>
            </a:r>
            <a:endParaRPr lang="en-US" sz="1050" dirty="0"/>
          </a:p>
        </p:txBody>
      </p:sp>
      <p:sp>
        <p:nvSpPr>
          <p:cNvPr id="35" name="Tasa Reforma del hogar"/>
          <p:cNvSpPr txBox="1"/>
          <p:nvPr/>
        </p:nvSpPr>
        <p:spPr>
          <a:xfrm>
            <a:off x="7635240" y="3931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67,2 %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FIARSE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de 9 pruebas obligatorias aprobadas</a:t>
            </a:r>
            <a:endParaRPr lang="en-US" sz="2600" dirty="0"/>
          </a:p>
        </p:txBody>
      </p:sp>
      <p:sp>
        <p:nvSpPr>
          <p:cNvPr id="4" name="Prueba Agente"/>
          <p:cNvSpPr/>
          <p:nvPr/>
        </p:nvSpPr>
        <p:spPr>
          <a:xfrm>
            <a:off x="457200" y="1325880"/>
            <a:ext cx="1700784" cy="676656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o prueba Agente"/>
          <p:cNvSpPr txBox="1"/>
          <p:nvPr/>
        </p:nvSpPr>
        <p:spPr>
          <a:xfrm>
            <a:off x="566928" y="1325880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Interpreta, consulta, puntúa e informa</a:t>
            </a:r>
            <a:endParaRPr lang="en-US" sz="1200" dirty="0"/>
          </a:p>
        </p:txBody>
      </p:sp>
      <p:sp>
        <p:nvSpPr>
          <p:cNvPr id="6" name="Prueba Skill"/>
          <p:cNvSpPr/>
          <p:nvPr/>
        </p:nvSpPr>
        <p:spPr>
          <a:xfrm>
            <a:off x="2267712" y="1325880"/>
            <a:ext cx="1700784" cy="676656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o prueba Skill"/>
          <p:cNvSpPr txBox="1"/>
          <p:nvPr/>
        </p:nvSpPr>
        <p:spPr>
          <a:xfrm>
            <a:off x="2377440" y="1325880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7 casos, salida determinista</a:t>
            </a:r>
            <a:endParaRPr lang="en-US" sz="1200" dirty="0"/>
          </a:p>
        </p:txBody>
      </p:sp>
      <p:sp>
        <p:nvSpPr>
          <p:cNvPr id="8" name="Prueba MCP"/>
          <p:cNvSpPr/>
          <p:nvPr/>
        </p:nvSpPr>
        <p:spPr>
          <a:xfrm>
            <a:off x="4078224" y="1325880"/>
            <a:ext cx="1700784" cy="676656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o prueba MCP"/>
          <p:cNvSpPr txBox="1"/>
          <p:nvPr/>
        </p:nvSpPr>
        <p:spPr>
          <a:xfrm>
            <a:off x="4187952" y="1325880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reales a los dos servidores</a:t>
            </a:r>
            <a:endParaRPr lang="en-US" sz="1200" dirty="0"/>
          </a:p>
        </p:txBody>
      </p:sp>
      <p:sp>
        <p:nvSpPr>
          <p:cNvPr id="10" name="Prueba Base de datos"/>
          <p:cNvSpPr/>
          <p:nvPr/>
        </p:nvSpPr>
        <p:spPr>
          <a:xfrm>
            <a:off x="457200" y="2112264"/>
            <a:ext cx="1700784" cy="676656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o prueba Base de datos"/>
          <p:cNvSpPr txBox="1"/>
          <p:nvPr/>
        </p:nvSpPr>
        <p:spPr>
          <a:xfrm>
            <a:off x="566928" y="2112264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32.581 filas · 21,82 %</a:t>
            </a:r>
            <a:endParaRPr lang="en-US" sz="1200" dirty="0"/>
          </a:p>
        </p:txBody>
      </p:sp>
      <p:sp>
        <p:nvSpPr>
          <p:cNvPr id="12" name="Prueba Backend"/>
          <p:cNvSpPr/>
          <p:nvPr/>
        </p:nvSpPr>
        <p:spPr>
          <a:xfrm>
            <a:off x="2267712" y="2112264"/>
            <a:ext cx="1700784" cy="676656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o prueba Backend"/>
          <p:cNvSpPr txBox="1"/>
          <p:nvPr/>
        </p:nvSpPr>
        <p:spPr>
          <a:xfrm>
            <a:off x="2377440" y="2112264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Consulta, puntúa, KPI y acciones</a:t>
            </a:r>
            <a:endParaRPr lang="en-US" sz="1200" dirty="0"/>
          </a:p>
        </p:txBody>
      </p:sp>
      <p:sp>
        <p:nvSpPr>
          <p:cNvPr id="14" name="Prueba Frontend"/>
          <p:cNvSpPr/>
          <p:nvPr/>
        </p:nvSpPr>
        <p:spPr>
          <a:xfrm>
            <a:off x="4078224" y="2112264"/>
            <a:ext cx="1700784" cy="676656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o prueba Frontend"/>
          <p:cNvSpPr txBox="1"/>
          <p:nvPr/>
        </p:nvSpPr>
        <p:spPr>
          <a:xfrm>
            <a:off x="4187952" y="2112264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y autorizar en la web</a:t>
            </a:r>
            <a:endParaRPr lang="en-US" sz="1200" dirty="0"/>
          </a:p>
        </p:txBody>
      </p:sp>
      <p:sp>
        <p:nvSpPr>
          <p:cNvPr id="16" name="Prueba Flujo completo"/>
          <p:cNvSpPr/>
          <p:nvPr/>
        </p:nvSpPr>
        <p:spPr>
          <a:xfrm>
            <a:off x="457200" y="2898648"/>
            <a:ext cx="1700784" cy="676656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o prueba Flujo completo"/>
          <p:cNvSpPr txBox="1"/>
          <p:nvPr/>
        </p:nvSpPr>
        <p:spPr>
          <a:xfrm>
            <a:off x="566928" y="2898648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y web: mismo resultado</a:t>
            </a:r>
            <a:endParaRPr lang="en-US" sz="1200" dirty="0"/>
          </a:p>
        </p:txBody>
      </p:sp>
      <p:sp>
        <p:nvSpPr>
          <p:cNvPr id="18" name="Prueba Errores"/>
          <p:cNvSpPr/>
          <p:nvPr/>
        </p:nvSpPr>
        <p:spPr>
          <a:xfrm>
            <a:off x="2267712" y="2898648"/>
            <a:ext cx="1700784" cy="676656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o prueba Errores"/>
          <p:cNvSpPr txBox="1"/>
          <p:nvPr/>
        </p:nvSpPr>
        <p:spPr>
          <a:xfrm>
            <a:off x="2377440" y="2898648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informan, no rompen el sistema</a:t>
            </a:r>
            <a:endParaRPr lang="en-US" sz="1200" dirty="0"/>
          </a:p>
        </p:txBody>
      </p:sp>
      <p:sp>
        <p:nvSpPr>
          <p:cNvPr id="20" name="Prueba Validación BI"/>
          <p:cNvSpPr/>
          <p:nvPr/>
        </p:nvSpPr>
        <p:spPr>
          <a:xfrm>
            <a:off x="4078224" y="2898648"/>
            <a:ext cx="1700784" cy="676656"/>
          </a:xfrm>
          <a:prstGeom prst="roundRect">
            <a:avLst>
              <a:gd name="adj" fmla="val 94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o prueba Validación BI"/>
          <p:cNvSpPr txBox="1"/>
          <p:nvPr/>
        </p:nvSpPr>
        <p:spPr>
          <a:xfrm>
            <a:off x="4187952" y="2898648"/>
            <a:ext cx="1517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BI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cruzadas SQL ↔ Python</a:t>
            </a:r>
            <a:endParaRPr lang="en-US" sz="1200" dirty="0"/>
          </a:p>
        </p:txBody>
      </p:sp>
      <p:sp>
        <p:nvSpPr>
          <p:cNvPr id="22" name="Tarjeta seguridad"/>
          <p:cNvSpPr/>
          <p:nvPr/>
        </p:nvSpPr>
        <p:spPr>
          <a:xfrm>
            <a:off x="5943600" y="1325880"/>
            <a:ext cx="2743200" cy="2249424"/>
          </a:xfrm>
          <a:prstGeom prst="roundRect">
            <a:avLst>
              <a:gd name="adj" fmla="val 284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itular seguridad"/>
          <p:cNvSpPr txBox="1"/>
          <p:nvPr/>
        </p:nvSpPr>
        <p:spPr>
          <a:xfrm>
            <a:off x="6126480" y="1444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900" dirty="0"/>
          </a:p>
        </p:txBody>
      </p:sp>
      <p:sp>
        <p:nvSpPr>
          <p:cNvPr id="24" name="Lista seguridad"/>
          <p:cNvSpPr txBox="1"/>
          <p:nvPr/>
        </p:nvSpPr>
        <p:spPr>
          <a:xfrm>
            <a:off x="6126480" y="173736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«Borra los préstamos pagados» → el agente se niega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de solo lectura en la base de datos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crítico siempre requiere autorización humana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contraseñas en el repositorio</a:t>
            </a:r>
            <a:endParaRPr lang="en-US" sz="1150" dirty="0"/>
          </a:p>
        </p:txBody>
      </p:sp>
      <p:sp>
        <p:nvSpPr>
          <p:cNvPr id="25" name="Pie pruebas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pruebas automáticas reproducibles · errores reales documentados y corregidos en tests/pruebas.md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hay que saber antes de usarlo</a:t>
            </a:r>
            <a:endParaRPr lang="en-US" sz="2600" dirty="0"/>
          </a:p>
        </p:txBody>
      </p:sp>
      <p:sp>
        <p:nvSpPr>
          <p:cNvPr id="4" name="Límite Origen de los datos"/>
          <p:cNvSpPr/>
          <p:nvPr/>
        </p:nvSpPr>
        <p:spPr>
          <a:xfrm>
            <a:off x="457200" y="1325880"/>
            <a:ext cx="2651760" cy="1298448"/>
          </a:xfrm>
          <a:prstGeom prst="roundRect">
            <a:avLst>
              <a:gd name="adj" fmla="val 493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itular Origen de los datos"/>
          <p:cNvSpPr txBox="1"/>
          <p:nvPr/>
        </p:nvSpPr>
        <p:spPr>
          <a:xfrm>
            <a:off x="640080" y="1463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 los datos</a:t>
            </a:r>
            <a:endParaRPr lang="en-US" sz="1300" dirty="0"/>
          </a:p>
        </p:txBody>
      </p:sp>
      <p:sp>
        <p:nvSpPr>
          <p:cNvPr id="6" name="Texto Origen de los datos"/>
          <p:cNvSpPr txBox="1"/>
          <p:nvPr/>
        </p:nvSpPr>
        <p:spPr>
          <a:xfrm>
            <a:off x="640080" y="18013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Dataset de Kaggle (CC0) en Supabase. Datos reales, sin datos personales ni fechas.</a:t>
            </a:r>
            <a:endParaRPr lang="en-US" sz="1150" dirty="0"/>
          </a:p>
        </p:txBody>
      </p:sp>
      <p:sp>
        <p:nvSpPr>
          <p:cNvPr id="7" name="Límite Preciso, no exhaustivo"/>
          <p:cNvSpPr/>
          <p:nvPr/>
        </p:nvSpPr>
        <p:spPr>
          <a:xfrm>
            <a:off x="3246120" y="1325880"/>
            <a:ext cx="2651760" cy="1298448"/>
          </a:xfrm>
          <a:prstGeom prst="roundRect">
            <a:avLst>
              <a:gd name="adj" fmla="val 493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itular Preciso, no exhaustivo"/>
          <p:cNvSpPr txBox="1"/>
          <p:nvPr/>
        </p:nvSpPr>
        <p:spPr>
          <a:xfrm>
            <a:off x="3429000" y="1463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Preciso, no exhaustivo</a:t>
            </a:r>
            <a:endParaRPr lang="en-US" sz="1300" dirty="0"/>
          </a:p>
        </p:txBody>
      </p:sp>
      <p:sp>
        <p:nvSpPr>
          <p:cNvPr id="9" name="Texto Preciso, no exhaustivo"/>
          <p:cNvSpPr txBox="1"/>
          <p:nvPr/>
        </p:nvSpPr>
        <p:spPr>
          <a:xfrm>
            <a:off x="3429000" y="18013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captura el 11,8 % de los impagos; la mayoría (65,4 %) cae en MODERADO.</a:t>
            </a:r>
            <a:endParaRPr lang="en-US" sz="1150" dirty="0"/>
          </a:p>
        </p:txBody>
      </p:sp>
      <p:sp>
        <p:nvSpPr>
          <p:cNvPr id="10" name="Límite Datos incompletos"/>
          <p:cNvSpPr/>
          <p:nvPr/>
        </p:nvSpPr>
        <p:spPr>
          <a:xfrm>
            <a:off x="6035040" y="1325880"/>
            <a:ext cx="2651760" cy="1298448"/>
          </a:xfrm>
          <a:prstGeom prst="roundRect">
            <a:avLst>
              <a:gd name="adj" fmla="val 493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itular Datos incompletos"/>
          <p:cNvSpPr txBox="1"/>
          <p:nvPr/>
        </p:nvSpPr>
        <p:spPr>
          <a:xfrm>
            <a:off x="6217920" y="1463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incompletos</a:t>
            </a:r>
            <a:endParaRPr lang="en-US" sz="1300" dirty="0"/>
          </a:p>
        </p:txBody>
      </p:sp>
      <p:sp>
        <p:nvSpPr>
          <p:cNvPr id="12" name="Texto Datos incompletos"/>
          <p:cNvSpPr txBox="1"/>
          <p:nvPr/>
        </p:nvSpPr>
        <p:spPr>
          <a:xfrm>
            <a:off x="6217920" y="180136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9,6 % no tiene tipo de interés: se imputa el punto medio y se avisa.</a:t>
            </a:r>
            <a:endParaRPr lang="en-US" sz="1150" dirty="0"/>
          </a:p>
        </p:txBody>
      </p:sp>
      <p:sp>
        <p:nvSpPr>
          <p:cNvPr id="13" name="Límite Pesos de criterio experto"/>
          <p:cNvSpPr/>
          <p:nvPr/>
        </p:nvSpPr>
        <p:spPr>
          <a:xfrm>
            <a:off x="457200" y="2788920"/>
            <a:ext cx="2651760" cy="1298448"/>
          </a:xfrm>
          <a:prstGeom prst="roundRect">
            <a:avLst>
              <a:gd name="adj" fmla="val 493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itular Pesos de criterio experto"/>
          <p:cNvSpPr txBox="1"/>
          <p:nvPr/>
        </p:nvSpPr>
        <p:spPr>
          <a:xfrm>
            <a:off x="640080" y="2926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de criterio experto</a:t>
            </a:r>
            <a:endParaRPr lang="en-US" sz="1300" dirty="0"/>
          </a:p>
        </p:txBody>
      </p:sp>
      <p:sp>
        <p:nvSpPr>
          <p:cNvPr id="15" name="Texto Pesos de criterio experto"/>
          <p:cNvSpPr txBox="1"/>
          <p:nvPr/>
        </p:nvSpPr>
        <p:spPr>
          <a:xfrm>
            <a:off x="640080" y="32644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Ordenan bien el riesgo (AUC 0,793), pero no están entrenados.</a:t>
            </a:r>
            <a:endParaRPr lang="en-US" sz="1150" dirty="0"/>
          </a:p>
        </p:txBody>
      </p:sp>
      <p:sp>
        <p:nvSpPr>
          <p:cNvPr id="16" name="Límite Crédito al consumo"/>
          <p:cNvSpPr/>
          <p:nvPr/>
        </p:nvSpPr>
        <p:spPr>
          <a:xfrm>
            <a:off x="3246120" y="2788920"/>
            <a:ext cx="2651760" cy="1298448"/>
          </a:xfrm>
          <a:prstGeom prst="roundRect">
            <a:avLst>
              <a:gd name="adj" fmla="val 493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itular Crédito al consumo"/>
          <p:cNvSpPr txBox="1"/>
          <p:nvPr/>
        </p:nvSpPr>
        <p:spPr>
          <a:xfrm>
            <a:off x="3429000" y="2926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al consumo</a:t>
            </a:r>
            <a:endParaRPr lang="en-US" sz="1300" dirty="0"/>
          </a:p>
        </p:txBody>
      </p:sp>
      <p:sp>
        <p:nvSpPr>
          <p:cNvPr id="18" name="Texto Crédito al consumo"/>
          <p:cNvSpPr txBox="1"/>
          <p:nvPr/>
        </p:nvSpPr>
        <p:spPr>
          <a:xfrm>
            <a:off x="3429000" y="32644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de 500 a 35.000 $. Para facturas B2B habría que recalibrar.</a:t>
            </a:r>
            <a:endParaRPr lang="en-US" sz="1150" dirty="0"/>
          </a:p>
        </p:txBody>
      </p:sp>
      <p:sp>
        <p:nvSpPr>
          <p:cNvPr id="19" name="Límite Siguiente paso"/>
          <p:cNvSpPr/>
          <p:nvPr/>
        </p:nvSpPr>
        <p:spPr>
          <a:xfrm>
            <a:off x="6035040" y="2788920"/>
            <a:ext cx="2651760" cy="1298448"/>
          </a:xfrm>
          <a:prstGeom prst="roundRect">
            <a:avLst>
              <a:gd name="adj" fmla="val 4930"/>
            </a:avLst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Titular Siguiente paso"/>
          <p:cNvSpPr txBox="1"/>
          <p:nvPr/>
        </p:nvSpPr>
        <p:spPr>
          <a:xfrm>
            <a:off x="6217920" y="2926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300" dirty="0"/>
          </a:p>
        </p:txBody>
      </p:sp>
      <p:sp>
        <p:nvSpPr>
          <p:cNvPr id="21" name="Texto Siguiente paso"/>
          <p:cNvSpPr txBox="1"/>
          <p:nvPr/>
        </p:nvSpPr>
        <p:spPr>
          <a:xfrm>
            <a:off x="6217920" y="32644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los pesos con regresión logística y compararla con la fórmula.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aprendimos</a:t>
            </a:r>
            <a:endParaRPr lang="en-US" sz="2600" dirty="0"/>
          </a:p>
        </p:txBody>
      </p:sp>
      <p:sp>
        <p:nvSpPr>
          <p:cNvPr id="4" name="Mensaje"/>
          <p:cNvSpPr txBox="1"/>
          <p:nvPr/>
        </p:nvSpPr>
        <p:spPr>
          <a:xfrm>
            <a:off x="457200" y="13258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cada cifra contra los datos y cuestionar a la IA cuando proponía algo que no existía.</a:t>
            </a:r>
            <a:endParaRPr lang="en-US" sz="2000" dirty="0"/>
          </a:p>
        </p:txBody>
      </p:sp>
      <p:sp>
        <p:nvSpPr>
          <p:cNvPr id="5" name="Aprendizaje Datos primero"/>
          <p:cNvSpPr/>
          <p:nvPr/>
        </p:nvSpPr>
        <p:spPr>
          <a:xfrm>
            <a:off x="457200" y="2286000"/>
            <a:ext cx="2651760" cy="1371600"/>
          </a:xfrm>
          <a:prstGeom prst="roundRect">
            <a:avLst>
              <a:gd name="adj" fmla="val 4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itular Datos primero"/>
          <p:cNvSpPr txBox="1"/>
          <p:nvPr/>
        </p:nvSpPr>
        <p:spPr>
          <a:xfrm>
            <a:off x="64008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primero</a:t>
            </a:r>
            <a:endParaRPr lang="en-US" sz="1500" dirty="0"/>
          </a:p>
        </p:txBody>
      </p:sp>
      <p:sp>
        <p:nvSpPr>
          <p:cNvPr id="7" name="Texto Datos primero"/>
          <p:cNvSpPr txBox="1"/>
          <p:nvPr/>
        </p:nvSpPr>
        <p:spPr>
          <a:xfrm>
            <a:off x="64008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sobre lo que hay en la base de datos, no sobre lo que imaginamos.</a:t>
            </a:r>
            <a:endParaRPr lang="en-US" sz="1250" dirty="0"/>
          </a:p>
        </p:txBody>
      </p:sp>
      <p:sp>
        <p:nvSpPr>
          <p:cNvPr id="8" name="Aprendizaje La IA se revisa"/>
          <p:cNvSpPr/>
          <p:nvPr/>
        </p:nvSpPr>
        <p:spPr>
          <a:xfrm>
            <a:off x="3246120" y="2286000"/>
            <a:ext cx="2651760" cy="1371600"/>
          </a:xfrm>
          <a:prstGeom prst="roundRect">
            <a:avLst>
              <a:gd name="adj" fmla="val 466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itular La IA se revisa"/>
          <p:cNvSpPr txBox="1"/>
          <p:nvPr/>
        </p:nvSpPr>
        <p:spPr>
          <a:xfrm>
            <a:off x="342900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se revisa</a:t>
            </a:r>
            <a:endParaRPr lang="en-US" sz="1500" dirty="0"/>
          </a:p>
        </p:txBody>
      </p:sp>
      <p:sp>
        <p:nvSpPr>
          <p:cNvPr id="10" name="Texto La IA se revisa"/>
          <p:cNvSpPr txBox="1"/>
          <p:nvPr/>
        </p:nvSpPr>
        <p:spPr>
          <a:xfrm>
            <a:off x="342900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Contrastamos sus resultados con SQL directo y no le dejamos aprobarse permisos.</a:t>
            </a:r>
            <a:endParaRPr lang="en-US" sz="1250" dirty="0"/>
          </a:p>
        </p:txBody>
      </p:sp>
      <p:sp>
        <p:nvSpPr>
          <p:cNvPr id="11" name="Aprendizaje Persona al mando"/>
          <p:cNvSpPr/>
          <p:nvPr/>
        </p:nvSpPr>
        <p:spPr>
          <a:xfrm>
            <a:off x="6035040" y="2286000"/>
            <a:ext cx="2651760" cy="1371600"/>
          </a:xfrm>
          <a:prstGeom prst="roundRect">
            <a:avLst>
              <a:gd name="adj" fmla="val 4667"/>
            </a:avLst>
          </a:prstGeom>
          <a:solidFill>
            <a:schemeClr val="accent6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itular Persona al mando"/>
          <p:cNvSpPr txBox="1"/>
          <p:nvPr/>
        </p:nvSpPr>
        <p:spPr>
          <a:xfrm>
            <a:off x="621792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al mando</a:t>
            </a:r>
            <a:endParaRPr lang="en-US" sz="1500" dirty="0"/>
          </a:p>
        </p:txBody>
      </p:sp>
      <p:sp>
        <p:nvSpPr>
          <p:cNvPr id="13" name="Texto Persona al mando"/>
          <p:cNvSpPr txBox="1"/>
          <p:nvPr/>
        </p:nvSpPr>
        <p:spPr>
          <a:xfrm>
            <a:off x="621792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duras de cobro siempre las autoriza alguien.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Guard Web">
  <a:themeElements>
    <a:clrScheme name="CreditGuard Web">
      <a:dk1>
        <a:srgbClr val="14202B"/>
      </a:dk1>
      <a:lt1>
        <a:srgbClr val="FFFFFF"/>
      </a:lt1>
      <a:dk2>
        <a:srgbClr val="566472"/>
      </a:dk2>
      <a:lt2>
        <a:srgbClr val="F4F6F7"/>
      </a:lt2>
      <a:accent1>
        <a:srgbClr val="0D766C"/>
      </a:accent1>
      <a:accent2>
        <a:srgbClr val="2D7A4D"/>
      </a:accent2>
      <a:accent3>
        <a:srgbClr val="A86A06"/>
      </a:accent3>
      <a:accent4>
        <a:srgbClr val="B42318"/>
      </a:accent4>
      <a:accent5>
        <a:srgbClr val="DCE2E7"/>
      </a:accent5>
      <a:accent6>
        <a:srgbClr val="DDEFEC"/>
      </a:accent6>
      <a:hlink>
        <a:srgbClr val="0D766C"/>
      </a:hlink>
      <a:folHlink>
        <a:srgbClr val="566472"/>
      </a:folHlink>
    </a:clrScheme>
    <a:fontScheme name="CreditGuard We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CreditGuard AI</dc:title>
  <dc:subject>PptxGenJS Presentation</dc:subject>
  <dc:creator>Equipo CreditGuard AI</dc:creator>
  <cp:lastModifiedBy>Equipo CreditGuard AI</cp:lastModifiedBy>
  <cp:revision>1</cp:revision>
  <dcterms:created xsi:type="dcterms:W3CDTF">2026-10-29T13:53:23Z</dcterms:created>
  <dcterms:modified xsi:type="dcterms:W3CDTF">2026-10-29T13:53:23Z</dcterms:modified>
</cp:coreProperties>
</file>