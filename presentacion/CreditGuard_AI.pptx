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d303fc0c-5994-b7c7-3d20-a3228595e0b4}">
          <p14:sldIdLst>
            <p14:sldId id="256"/>
          </p14:sldIdLst>
        </p14:section>
        <p14:section name="1. Problema y oportunidad" id="{4291804f-510c-6851-5078-d76518052fb5}">
          <p14:sldIdLst>
            <p14:sldId id="257"/>
          </p14:sldIdLst>
        </p14:section>
        <p14:section name="2. Arquitectura, Skills, MCP y datos" id="{8cc8bb15-a887-59a2-af8a-279bbbdecc6e}">
          <p14:sldIdLst>
            <p14:sldId id="258"/>
            <p14:sldId id="259"/>
            <p14:sldId id="260"/>
            <p14:sldId id="261"/>
          </p14:sldIdLst>
        </p14:section>
        <p14:section name="3. Demostración" id="{951ce3e1-d51c-7db3-631b-2793394125b6}">
          <p14:sldIdLst>
            <p14:sldId id="262"/>
          </p14:sldIdLst>
        </p14:section>
        <p14:section name="4. Pruebas y errores" id="{b3d88893-363a-7b26-cca1-86a6361ed53f}">
          <p14:sldIdLst>
            <p14:sldId id="263"/>
            <p14:sldId id="264"/>
          </p14:sldIdLst>
        </p14:section>
        <p14:section name="5. Reflexión" id="{0c0b12df-70c4-a159-3dfc-5a3e4109df55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3B4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B3B4F"/>
                </a:solidFill>
                <a:latin typeface="+mn-lt"/>
              </a:rPr>
              <a:t>Tasa de impago real por categoría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BAJO · 8,2 %</c:v>
                </c:pt>
              </c:strCache>
            </c:strRef>
          </c:tx>
          <c:spPr>
            <a:solidFill>
              <a:srgbClr val="2F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Tasa de impago real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MODERADO · 39,8 %</c:v>
                </c:pt>
              </c:strCache>
            </c:strRef>
          </c:tx>
          <c:spPr>
            <a:solidFill>
              <a:srgbClr val="C782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Tasa de impago real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39.8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CRÍTICO · 72,1 %</c:v>
                </c:pt>
              </c:strCache>
            </c:strRef>
          </c:tx>
          <c:spPr>
            <a:solidFill>
              <a:srgbClr val="B423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Tasa de impago real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72.1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B3B4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hallazgo: el score separa el riesgo. En los préstamos que marcamos como BAJO solo el 8,2 % acaba en impago; en los CRÍTICOS, el 72,1 %. Presentar al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 (1 min 30 s). El problema: los equipos de riesgo actúan tarde. Revisamos el mercado (ERP, Chaser/HighRadius, Experian) y ninguno prescribe la acción. Evaluamos 5 problemas y elegimos el riesgo de impago porque el dataset trae el resultado real: eso nos permite demostrar que el sistema acierta.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datos son 100 % reales: Credit Risk Dataset de Kaggle, licencia CC0, cargado en Supabase. Documentamos la calidad: nulos en el tipo de interés, edades imposibles y duplicados. El AUC de 0,793 indica que el score ordena bien el riesgo (0,5 sería azar).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 (2 min). Recorrer el flujo de izquierda a derecha. El agente tiene dos MCP: el oficial de Supabase para SQL libre y nuestro servidor credit-risk, construido adaptando el SDK oficial de MCP. Tanto el agente como la web llaman al mismo backend, por eso dan el mismo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skill suma cuatro factores financieros. Ejemplo para contar: un préstamo con esfuerzo 0,4, interés 15,2 %, impago previo y grado D da 76,17: CRÍTICO. Elegimos una fórmula explicable en vez de una caja negra para poder justificar cada decisión de cobro.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Validación con los 32.581 préstamos: BAJO 8,2 %, MODERADO 39,8 %, CRÍTICO 72,1 % de impago real. AUC 0,793. CRÍTICO es preciso porque implica acciones duras; la mayoría de impagos cae en MODERADO, que activa el plan de 3 cuotas.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 (3 min): demo en directo. 1) Web Streamlit con filtros por defecto y Analizar cartera. 2) Autorizar uno de los dos CRÍTICOS (préstamos 1 y 5). 3) En Claude Code preguntar qué finalidad concentra más importe crítico: MEDICAL con 3,52 M$; DEBTCONSOLIDATION acierta un 95,9 %. 4) Pedir 'Borra los préstamos pagados': se niega. Plan B: resultados en tests/pruebas.md.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 (2 min). Las 9 pruebas de la guía están aprobadas, cada una con su evidencia en tests/pruebas.md. Mostrar errores, no ocultarlos: la versión 1 describía tablas inexistentes; lo detectamos al conectar el MCP. La prueba de seguridad confirma que no se puede escribir en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honestos con los límites, el jurado lo valora. Datos de consumo, no B2B; pesos de criterio experto; CRÍTICO está diseñado para ser preciso, no para capturar todo. Siguiente paso: calibración estadística.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5 (1 min 30 s). Cada integrante comparte en una frase su aprendizaje principal (REFLEXION.md) y cerramos con los tres compromisos del equipo: qué mantener, qué cambiar y qué experimentar.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4884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CreditGuard AI · Hackathon BI agéntico INESDI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CreditGuard AI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488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de BI que detecta el riesgo de impago antes de que ocurra y propone qué hacer con cada préstamo</a:t>
            </a:r>
            <a:endParaRPr lang="en-US" sz="2000" dirty="0"/>
          </a:p>
        </p:txBody>
      </p:sp>
      <p:sp>
        <p:nvSpPr>
          <p:cNvPr id="4" name="Punto impago real en BAJO"/>
          <p:cNvSpPr/>
          <p:nvPr/>
        </p:nvSpPr>
        <p:spPr>
          <a:xfrm>
            <a:off x="548640" y="3685032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ifra impago real en BAJO"/>
          <p:cNvSpPr txBox="1"/>
          <p:nvPr/>
        </p:nvSpPr>
        <p:spPr>
          <a:xfrm>
            <a:off x="804672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8,2 %</a:t>
            </a:r>
            <a:endParaRPr lang="en-US" sz="2800" dirty="0"/>
          </a:p>
        </p:txBody>
      </p:sp>
      <p:sp>
        <p:nvSpPr>
          <p:cNvPr id="6" name="Etiqueta impago real en BAJO"/>
          <p:cNvSpPr txBox="1"/>
          <p:nvPr/>
        </p:nvSpPr>
        <p:spPr>
          <a:xfrm>
            <a:off x="804672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impago real en BAJO</a:t>
            </a:r>
            <a:endParaRPr lang="en-US" sz="1200" dirty="0"/>
          </a:p>
        </p:txBody>
      </p:sp>
      <p:sp>
        <p:nvSpPr>
          <p:cNvPr id="7" name="Punto impago real en CRÍTICO"/>
          <p:cNvSpPr/>
          <p:nvPr/>
        </p:nvSpPr>
        <p:spPr>
          <a:xfrm>
            <a:off x="2926080" y="3685032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Cifra impago real en CRÍTICO"/>
          <p:cNvSpPr txBox="1"/>
          <p:nvPr/>
        </p:nvSpPr>
        <p:spPr>
          <a:xfrm>
            <a:off x="3182112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72,1 %</a:t>
            </a:r>
            <a:endParaRPr lang="en-US" sz="2800" dirty="0"/>
          </a:p>
        </p:txBody>
      </p:sp>
      <p:sp>
        <p:nvSpPr>
          <p:cNvPr id="9" name="Etiqueta impago real en CRÍTICO"/>
          <p:cNvSpPr txBox="1"/>
          <p:nvPr/>
        </p:nvSpPr>
        <p:spPr>
          <a:xfrm>
            <a:off x="3182112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impago real en CRÍTICO</a:t>
            </a:r>
            <a:endParaRPr lang="en-US" sz="1200" dirty="0"/>
          </a:p>
        </p:txBody>
      </p:sp>
      <p:sp>
        <p:nvSpPr>
          <p:cNvPr id="10" name="Equipo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Mario Brochero López · Sofía Montero Jara · Santiago Nicolás Viuche Pinilla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cobro llega tarde: se actúa tras el impago</a:t>
            </a:r>
            <a:endParaRPr lang="en-US" sz="2800" dirty="0"/>
          </a:p>
        </p:txBody>
      </p:sp>
      <p:sp>
        <p:nvSpPr>
          <p:cNvPr id="3" name="Icono Hoy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Número Hoy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itular Hoy"/>
          <p:cNvSpPr txBox="1"/>
          <p:nvPr/>
        </p:nvSpPr>
        <p:spPr>
          <a:xfrm>
            <a:off x="105156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800" dirty="0"/>
          </a:p>
        </p:txBody>
      </p:sp>
      <p:sp>
        <p:nvSpPr>
          <p:cNvPr id="6" name="Texto Hoy"/>
          <p:cNvSpPr txBox="1"/>
          <p:nvPr/>
        </p:nvSpPr>
        <p:spPr>
          <a:xfrm>
            <a:off x="1051560" y="15361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 y reactiva de la cartera; el esfuerzo se reparte igual entre préstamos de riesgo muy distinto</a:t>
            </a:r>
            <a:endParaRPr lang="en-US" sz="1400" dirty="0"/>
          </a:p>
        </p:txBody>
      </p:sp>
      <p:sp>
        <p:nvSpPr>
          <p:cNvPr id="7" name="Icono Mercado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Número Mercado"/>
          <p:cNvSpPr txBox="1"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itular Mercado"/>
          <p:cNvSpPr txBox="1"/>
          <p:nvPr/>
        </p:nvSpPr>
        <p:spPr>
          <a:xfrm>
            <a:off x="105156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800" dirty="0"/>
          </a:p>
        </p:txBody>
      </p:sp>
      <p:sp>
        <p:nvSpPr>
          <p:cNvPr id="10" name="Texto Mercado"/>
          <p:cNvSpPr txBox="1"/>
          <p:nvPr/>
        </p:nvSpPr>
        <p:spPr>
          <a:xfrm>
            <a:off x="1051560" y="26334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 informes estáticos, automatización de cobros por reglas simples y scoring externo que no prescribe acciones</a:t>
            </a:r>
            <a:endParaRPr lang="en-US" sz="1400" dirty="0"/>
          </a:p>
        </p:txBody>
      </p:sp>
      <p:sp>
        <p:nvSpPr>
          <p:cNvPr id="11" name="Icono Oportunidad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úmero Oportunidad"/>
          <p:cNvSpPr txBox="1"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itular Oportunidad"/>
          <p:cNvSpPr txBox="1"/>
          <p:nvPr/>
        </p:nvSpPr>
        <p:spPr>
          <a:xfrm>
            <a:off x="1051560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800" dirty="0"/>
          </a:p>
        </p:txBody>
      </p:sp>
      <p:sp>
        <p:nvSpPr>
          <p:cNvPr id="14" name="Texto Oportunidad"/>
          <p:cNvSpPr txBox="1"/>
          <p:nvPr/>
        </p:nvSpPr>
        <p:spPr>
          <a:xfrm>
            <a:off x="1051560" y="37307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que consulta los datos, puntúa el riesgo de forma explicable y propone la acción, con control humano</a:t>
            </a:r>
            <a:endParaRPr lang="en-US" sz="1400" dirty="0"/>
          </a:p>
        </p:txBody>
      </p:sp>
      <p:sp>
        <p:nvSpPr>
          <p:cNvPr id="15" name="Tarjeta problemas"/>
          <p:cNvSpPr/>
          <p:nvPr/>
        </p:nvSpPr>
        <p:spPr>
          <a:xfrm>
            <a:off x="5394960" y="1188720"/>
            <a:ext cx="329184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itular problemas"/>
          <p:cNvSpPr txBox="1"/>
          <p:nvPr/>
        </p:nvSpPr>
        <p:spPr>
          <a:xfrm>
            <a:off x="562356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problemas de BI evaluados</a:t>
            </a:r>
            <a:endParaRPr lang="en-US" sz="1600" dirty="0"/>
          </a:p>
        </p:txBody>
      </p:sp>
      <p:sp>
        <p:nvSpPr>
          <p:cNvPr id="17" name="Problema 1"/>
          <p:cNvSpPr txBox="1"/>
          <p:nvPr/>
        </p:nvSpPr>
        <p:spPr>
          <a:xfrm>
            <a:off x="5623560" y="17830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impago en cartera de crédito</a:t>
            </a:r>
            <a:endParaRPr lang="en-US" sz="1400" dirty="0"/>
          </a:p>
        </p:txBody>
      </p:sp>
      <p:sp>
        <p:nvSpPr>
          <p:cNvPr id="18" name="Problema 2"/>
          <p:cNvSpPr txBox="1"/>
          <p:nvPr/>
        </p:nvSpPr>
        <p:spPr>
          <a:xfrm>
            <a:off x="5623560" y="21671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en SaaS B2B</a:t>
            </a:r>
            <a:endParaRPr lang="en-US" sz="1400" dirty="0"/>
          </a:p>
        </p:txBody>
      </p:sp>
      <p:sp>
        <p:nvSpPr>
          <p:cNvPr id="19" name="Problema 3"/>
          <p:cNvSpPr txBox="1"/>
          <p:nvPr/>
        </p:nvSpPr>
        <p:spPr>
          <a:xfrm>
            <a:off x="5623560" y="25511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 de cobro B2B (DSO)</a:t>
            </a:r>
            <a:endParaRPr lang="en-US" sz="1400" dirty="0"/>
          </a:p>
        </p:txBody>
      </p:sp>
      <p:sp>
        <p:nvSpPr>
          <p:cNvPr id="20" name="Problema 4"/>
          <p:cNvSpPr txBox="1"/>
          <p:nvPr/>
        </p:nvSpPr>
        <p:spPr>
          <a:xfrm>
            <a:off x="5623560" y="29352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Previsión de demanda retail</a:t>
            </a:r>
            <a:endParaRPr lang="en-US" sz="1400" dirty="0"/>
          </a:p>
        </p:txBody>
      </p:sp>
      <p:sp>
        <p:nvSpPr>
          <p:cNvPr id="21" name="Problema 5"/>
          <p:cNvSpPr txBox="1"/>
          <p:nvPr/>
        </p:nvSpPr>
        <p:spPr>
          <a:xfrm>
            <a:off x="5623560" y="33192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en pagos</a:t>
            </a:r>
            <a:endParaRPr lang="en-US" sz="1400" dirty="0"/>
          </a:p>
        </p:txBody>
      </p:sp>
      <p:sp>
        <p:nvSpPr>
          <p:cNvPr id="22" name="Motivo elección"/>
          <p:cNvSpPr txBox="1"/>
          <p:nvPr/>
        </p:nvSpPr>
        <p:spPr>
          <a:xfrm>
            <a:off x="562356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Elegido: tiene datos reales con el resultado conocido, así que podemos validar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reales: 32.581 préstamos con su resultado</a:t>
            </a:r>
            <a:endParaRPr lang="en-US" sz="2800" dirty="0"/>
          </a:p>
        </p:txBody>
      </p:sp>
      <p:sp>
        <p:nvSpPr>
          <p:cNvPr id="3" name="KPI préstamos reales (Kaggle, CC0)"/>
          <p:cNvSpPr/>
          <p:nvPr/>
        </p:nvSpPr>
        <p:spPr>
          <a:xfrm>
            <a:off x="457200" y="12344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Valor préstamos reales (Kaggle, CC0)"/>
          <p:cNvSpPr txBox="1"/>
          <p:nvPr/>
        </p:nvSpPr>
        <p:spPr>
          <a:xfrm>
            <a:off x="64008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32.581</a:t>
            </a:r>
            <a:endParaRPr lang="en-US" sz="3000" dirty="0"/>
          </a:p>
        </p:txBody>
      </p:sp>
      <p:sp>
        <p:nvSpPr>
          <p:cNvPr id="5" name="Texto préstamos reales (Kaggle, CC0)"/>
          <p:cNvSpPr txBox="1"/>
          <p:nvPr/>
        </p:nvSpPr>
        <p:spPr>
          <a:xfrm>
            <a:off x="64008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reales (Kaggle, CC0)</a:t>
            </a:r>
            <a:endParaRPr lang="en-US" sz="1300" dirty="0"/>
          </a:p>
        </p:txBody>
      </p:sp>
      <p:sp>
        <p:nvSpPr>
          <p:cNvPr id="6" name="KPI importe total de la cartera"/>
          <p:cNvSpPr/>
          <p:nvPr/>
        </p:nvSpPr>
        <p:spPr>
          <a:xfrm>
            <a:off x="2560320" y="12344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Valor importe total de la cartera"/>
          <p:cNvSpPr txBox="1"/>
          <p:nvPr/>
        </p:nvSpPr>
        <p:spPr>
          <a:xfrm>
            <a:off x="274320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312,4 M$</a:t>
            </a:r>
            <a:endParaRPr lang="en-US" sz="3000" dirty="0"/>
          </a:p>
        </p:txBody>
      </p:sp>
      <p:sp>
        <p:nvSpPr>
          <p:cNvPr id="8" name="Texto importe total de la cartera"/>
          <p:cNvSpPr txBox="1"/>
          <p:nvPr/>
        </p:nvSpPr>
        <p:spPr>
          <a:xfrm>
            <a:off x="274320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total de la cartera</a:t>
            </a:r>
            <a:endParaRPr lang="en-US" sz="1300" dirty="0"/>
          </a:p>
        </p:txBody>
      </p:sp>
      <p:sp>
        <p:nvSpPr>
          <p:cNvPr id="9" name="KPI tasa de impago global"/>
          <p:cNvSpPr/>
          <p:nvPr/>
        </p:nvSpPr>
        <p:spPr>
          <a:xfrm>
            <a:off x="4663440" y="12344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Valor tasa de impago global"/>
          <p:cNvSpPr txBox="1"/>
          <p:nvPr/>
        </p:nvSpPr>
        <p:spPr>
          <a:xfrm>
            <a:off x="484632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21,82 %</a:t>
            </a:r>
            <a:endParaRPr lang="en-US" sz="3000" dirty="0"/>
          </a:p>
        </p:txBody>
      </p:sp>
      <p:sp>
        <p:nvSpPr>
          <p:cNvPr id="11" name="Texto tasa de impago global"/>
          <p:cNvSpPr txBox="1"/>
          <p:nvPr/>
        </p:nvSpPr>
        <p:spPr>
          <a:xfrm>
            <a:off x="484632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impago global</a:t>
            </a:r>
            <a:endParaRPr lang="en-US" sz="1300" dirty="0"/>
          </a:p>
        </p:txBody>
      </p:sp>
      <p:sp>
        <p:nvSpPr>
          <p:cNvPr id="12" name="KPI AUC del score frente al impago real"/>
          <p:cNvSpPr/>
          <p:nvPr/>
        </p:nvSpPr>
        <p:spPr>
          <a:xfrm>
            <a:off x="6766560" y="12344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Valor AUC del score frente al impago real"/>
          <p:cNvSpPr txBox="1"/>
          <p:nvPr/>
        </p:nvSpPr>
        <p:spPr>
          <a:xfrm>
            <a:off x="694944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0,793</a:t>
            </a:r>
            <a:endParaRPr lang="en-US" sz="3000" dirty="0"/>
          </a:p>
        </p:txBody>
      </p:sp>
      <p:sp>
        <p:nvSpPr>
          <p:cNvPr id="14" name="Texto AUC del score frente al impago real"/>
          <p:cNvSpPr txBox="1"/>
          <p:nvPr/>
        </p:nvSpPr>
        <p:spPr>
          <a:xfrm>
            <a:off x="694944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del score frente al impago real</a:t>
            </a:r>
            <a:endParaRPr lang="en-US" sz="1300" dirty="0"/>
          </a:p>
        </p:txBody>
      </p:sp>
      <p:sp>
        <p:nvSpPr>
          <p:cNvPr id="15" name="Notas de datos"/>
          <p:cNvSpPr txBox="1"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tabla public.credit_risk, 13 columnas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documentada: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9,6 % sin tipo de interés (se imputa y se avisa), 7 edades atípicas, 165 duplicados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datos personales identificables; el score no usa edad ni vivienda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agente, dos MCP y una sola lógica de negocio</a:t>
            </a:r>
            <a:endParaRPr lang="en-US" sz="2800" dirty="0"/>
          </a:p>
        </p:txBody>
      </p:sp>
      <p:sp>
        <p:nvSpPr>
          <p:cNvPr id="3" name="Usuario"/>
          <p:cNvSpPr/>
          <p:nvPr/>
        </p:nvSpPr>
        <p:spPr>
          <a:xfrm>
            <a:off x="457200" y="1600200"/>
            <a:ext cx="16002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 Usuario"/>
          <p:cNvSpPr txBox="1"/>
          <p:nvPr/>
        </p:nvSpPr>
        <p:spPr>
          <a:xfrm>
            <a:off x="548640" y="16002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o web Streamlit</a:t>
            </a:r>
            <a:endParaRPr lang="en-US" sz="1400" dirty="0"/>
          </a:p>
        </p:txBody>
      </p:sp>
      <p:sp>
        <p:nvSpPr>
          <p:cNvPr id="5" name="Agente"/>
          <p:cNvSpPr/>
          <p:nvPr/>
        </p:nvSpPr>
        <p:spPr>
          <a:xfrm>
            <a:off x="2423160" y="1600200"/>
            <a:ext cx="160020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o Agente"/>
          <p:cNvSpPr txBox="1"/>
          <p:nvPr/>
        </p:nvSpPr>
        <p:spPr>
          <a:xfrm>
            <a:off x="2514600" y="16002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CreditGuard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1400" dirty="0"/>
          </a:p>
        </p:txBody>
      </p:sp>
      <p:sp>
        <p:nvSpPr>
          <p:cNvPr id="7" name="MCP Supabase"/>
          <p:cNvSpPr/>
          <p:nvPr/>
        </p:nvSpPr>
        <p:spPr>
          <a:xfrm>
            <a:off x="4434840" y="114300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MCP Supabase"/>
          <p:cNvSpPr txBox="1"/>
          <p:nvPr/>
        </p:nvSpPr>
        <p:spPr>
          <a:xfrm>
            <a:off x="4526280" y="1143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Supabase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execute_sql · solo lectura</a:t>
            </a:r>
            <a:endParaRPr lang="en-US" sz="1400" dirty="0"/>
          </a:p>
        </p:txBody>
      </p:sp>
      <p:sp>
        <p:nvSpPr>
          <p:cNvPr id="9" name="MCP propio"/>
          <p:cNvSpPr/>
          <p:nvPr/>
        </p:nvSpPr>
        <p:spPr>
          <a:xfrm>
            <a:off x="4434840" y="205740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o MCP propio"/>
          <p:cNvSpPr txBox="1"/>
          <p:nvPr/>
        </p:nvSpPr>
        <p:spPr>
          <a:xfrm>
            <a:off x="4526280" y="2057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credit-risk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servidor</a:t>
            </a:r>
            <a:endParaRPr lang="en-US" sz="1400" dirty="0"/>
          </a:p>
        </p:txBody>
      </p:sp>
      <p:sp>
        <p:nvSpPr>
          <p:cNvPr id="11" name="Backend"/>
          <p:cNvSpPr/>
          <p:nvPr/>
        </p:nvSpPr>
        <p:spPr>
          <a:xfrm>
            <a:off x="4434840" y="297180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o Backend"/>
          <p:cNvSpPr txBox="1"/>
          <p:nvPr/>
        </p:nvSpPr>
        <p:spPr>
          <a:xfrm>
            <a:off x="452628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Skill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servicio.py · credit_risk.py</a:t>
            </a:r>
            <a:endParaRPr lang="en-US" sz="1400" dirty="0"/>
          </a:p>
        </p:txBody>
      </p:sp>
      <p:sp>
        <p:nvSpPr>
          <p:cNvPr id="13" name="BD"/>
          <p:cNvSpPr/>
          <p:nvPr/>
        </p:nvSpPr>
        <p:spPr>
          <a:xfrm>
            <a:off x="6766560" y="114300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o BD"/>
          <p:cNvSpPr txBox="1"/>
          <p:nvPr/>
        </p:nvSpPr>
        <p:spPr>
          <a:xfrm>
            <a:off x="6858000" y="1143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32.581 préstamos</a:t>
            </a:r>
            <a:endParaRPr lang="en-US" sz="1400" dirty="0"/>
          </a:p>
        </p:txBody>
      </p:sp>
      <p:sp>
        <p:nvSpPr>
          <p:cNvPr id="15" name="Resultado"/>
          <p:cNvSpPr/>
          <p:nvPr/>
        </p:nvSpPr>
        <p:spPr>
          <a:xfrm>
            <a:off x="6766560" y="297180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o Resultado"/>
          <p:cNvSpPr txBox="1"/>
          <p:nvPr/>
        </p:nvSpPr>
        <p:spPr>
          <a:xfrm>
            <a:off x="6858000" y="2971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BI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tabla · acciones</a:t>
            </a:r>
            <a:endParaRPr lang="en-US" sz="1400" dirty="0"/>
          </a:p>
        </p:txBody>
      </p:sp>
      <p:sp>
        <p:nvSpPr>
          <p:cNvPr id="17" name="Flecha usuario-agente"/>
          <p:cNvSpPr/>
          <p:nvPr/>
        </p:nvSpPr>
        <p:spPr>
          <a:xfrm>
            <a:off x="2057400" y="1984248"/>
            <a:ext cx="3657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Flecha agente-supabase"/>
          <p:cNvSpPr/>
          <p:nvPr/>
        </p:nvSpPr>
        <p:spPr>
          <a:xfrm flipV="1">
            <a:off x="4023360" y="1527048"/>
            <a:ext cx="411480" cy="30175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Flecha agente-propio"/>
          <p:cNvSpPr/>
          <p:nvPr/>
        </p:nvSpPr>
        <p:spPr>
          <a:xfrm>
            <a:off x="4023360" y="2148840"/>
            <a:ext cx="411480" cy="29260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Flecha propio-backend"/>
          <p:cNvSpPr/>
          <p:nvPr/>
        </p:nvSpPr>
        <p:spPr>
          <a:xfrm>
            <a:off x="5349240" y="2834640"/>
            <a:ext cx="914" cy="1371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Flecha supabase-bd"/>
          <p:cNvSpPr/>
          <p:nvPr/>
        </p:nvSpPr>
        <p:spPr>
          <a:xfrm>
            <a:off x="6263640" y="1527048"/>
            <a:ext cx="5029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Flecha backend-resultado"/>
          <p:cNvSpPr/>
          <p:nvPr/>
        </p:nvSpPr>
        <p:spPr>
          <a:xfrm>
            <a:off x="6263640" y="3355848"/>
            <a:ext cx="5029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Flecha backend-bd"/>
          <p:cNvSpPr/>
          <p:nvPr/>
        </p:nvSpPr>
        <p:spPr>
          <a:xfrm flipV="1">
            <a:off x="6263640" y="1920240"/>
            <a:ext cx="685800" cy="11887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Notas arquitectura"/>
          <p:cNvSpPr txBox="1"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de GitHub adaptada: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oficial de MCP para Python → servidor propio credit-risk con 3 herramientas.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solo lectura; lo CRÍTICO espera autorización humana.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Skill: un score de 0 a 100 explicable</a:t>
            </a:r>
            <a:endParaRPr lang="en-US" sz="2800" dirty="0"/>
          </a:p>
        </p:txBody>
      </p:sp>
      <p:sp>
        <p:nvSpPr>
          <p:cNvPr id="3" name="Titular factores"/>
          <p:cNvSpPr txBox="1"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máximo de cada factor</a:t>
            </a:r>
            <a:endParaRPr lang="en-US" sz="1400" dirty="0"/>
          </a:p>
        </p:txBody>
      </p:sp>
      <p:sp>
        <p:nvSpPr>
          <p:cNvPr id="4" name="Factor Esfuerzo financiero"/>
          <p:cNvSpPr txBox="1"/>
          <p:nvPr/>
        </p:nvSpPr>
        <p:spPr>
          <a:xfrm>
            <a:off x="45720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financiero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/ ingresos</a:t>
            </a:r>
            <a:endParaRPr lang="en-US" sz="1400" dirty="0"/>
          </a:p>
        </p:txBody>
      </p:sp>
      <p:sp>
        <p:nvSpPr>
          <p:cNvPr id="5" name="Barra Esfuerzo financiero"/>
          <p:cNvSpPr/>
          <p:nvPr/>
        </p:nvSpPr>
        <p:spPr>
          <a:xfrm>
            <a:off x="2286000" y="1664208"/>
            <a:ext cx="2011680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so Esfuerzo financiero"/>
          <p:cNvSpPr txBox="1"/>
          <p:nvPr/>
        </p:nvSpPr>
        <p:spPr>
          <a:xfrm>
            <a:off x="4389120" y="16276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600" dirty="0"/>
          </a:p>
        </p:txBody>
      </p:sp>
      <p:sp>
        <p:nvSpPr>
          <p:cNvPr id="7" name="Factor Tipo de interés"/>
          <p:cNvSpPr txBox="1"/>
          <p:nvPr/>
        </p:nvSpPr>
        <p:spPr>
          <a:xfrm>
            <a:off x="457200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interés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del riesgo</a:t>
            </a:r>
            <a:endParaRPr lang="en-US" sz="1400" dirty="0"/>
          </a:p>
        </p:txBody>
      </p:sp>
      <p:sp>
        <p:nvSpPr>
          <p:cNvPr id="8" name="Barra Tipo de interés"/>
          <p:cNvSpPr/>
          <p:nvPr/>
        </p:nvSpPr>
        <p:spPr>
          <a:xfrm>
            <a:off x="2286000" y="2350008"/>
            <a:ext cx="1436914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eso Tipo de interés"/>
          <p:cNvSpPr txBox="1"/>
          <p:nvPr/>
        </p:nvSpPr>
        <p:spPr>
          <a:xfrm>
            <a:off x="3814354" y="23134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10" name="Factor Impago previo"/>
          <p:cNvSpPr txBox="1"/>
          <p:nvPr/>
        </p:nvSpPr>
        <p:spPr>
          <a:xfrm>
            <a:off x="457200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Impago previo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en buró</a:t>
            </a:r>
            <a:endParaRPr lang="en-US" sz="1400" dirty="0"/>
          </a:p>
        </p:txBody>
      </p:sp>
      <p:sp>
        <p:nvSpPr>
          <p:cNvPr id="11" name="Barra Impago previo"/>
          <p:cNvSpPr/>
          <p:nvPr/>
        </p:nvSpPr>
        <p:spPr>
          <a:xfrm>
            <a:off x="2286000" y="3035808"/>
            <a:ext cx="1149531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eso Impago previo"/>
          <p:cNvSpPr txBox="1"/>
          <p:nvPr/>
        </p:nvSpPr>
        <p:spPr>
          <a:xfrm>
            <a:off x="3526971" y="29992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3" name="Factor Grado A-G"/>
          <p:cNvSpPr txBox="1"/>
          <p:nvPr/>
        </p:nvSpPr>
        <p:spPr>
          <a:xfrm>
            <a:off x="45720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A-G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del préstamo</a:t>
            </a:r>
            <a:endParaRPr lang="en-US" sz="1400" dirty="0"/>
          </a:p>
        </p:txBody>
      </p:sp>
      <p:sp>
        <p:nvSpPr>
          <p:cNvPr id="14" name="Barra Grado A-G"/>
          <p:cNvSpPr/>
          <p:nvPr/>
        </p:nvSpPr>
        <p:spPr>
          <a:xfrm>
            <a:off x="2286000" y="3721608"/>
            <a:ext cx="1149531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eso Grado A-G"/>
          <p:cNvSpPr txBox="1"/>
          <p:nvPr/>
        </p:nvSpPr>
        <p:spPr>
          <a:xfrm>
            <a:off x="3526971" y="36850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6" name="Matriz BAJO"/>
          <p:cNvSpPr/>
          <p:nvPr/>
        </p:nvSpPr>
        <p:spPr>
          <a:xfrm>
            <a:off x="4937760" y="1188720"/>
            <a:ext cx="37490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emáforo BAJO"/>
          <p:cNvSpPr/>
          <p:nvPr/>
        </p:nvSpPr>
        <p:spPr>
          <a:xfrm>
            <a:off x="5120640" y="14630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Categoría BAJO"/>
          <p:cNvSpPr txBox="1"/>
          <p:nvPr/>
        </p:nvSpPr>
        <p:spPr>
          <a:xfrm>
            <a:off x="566928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</a:t>
            </a:r>
            <a:endParaRPr lang="en-US" sz="1500" dirty="0"/>
          </a:p>
        </p:txBody>
      </p:sp>
      <p:sp>
        <p:nvSpPr>
          <p:cNvPr id="19" name="Acción BAJO"/>
          <p:cNvSpPr txBox="1"/>
          <p:nvPr/>
        </p:nvSpPr>
        <p:spPr>
          <a:xfrm>
            <a:off x="5669280" y="16184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amigable de pago</a:t>
            </a:r>
            <a:endParaRPr lang="en-US" sz="1200" dirty="0"/>
          </a:p>
        </p:txBody>
      </p:sp>
      <p:sp>
        <p:nvSpPr>
          <p:cNvPr id="20" name="Matriz MODERADO"/>
          <p:cNvSpPr/>
          <p:nvPr/>
        </p:nvSpPr>
        <p:spPr>
          <a:xfrm>
            <a:off x="4937760" y="2240280"/>
            <a:ext cx="37490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emáforo MODERADO"/>
          <p:cNvSpPr/>
          <p:nvPr/>
        </p:nvSpPr>
        <p:spPr>
          <a:xfrm>
            <a:off x="5120640" y="25146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Categoría MODERADO"/>
          <p:cNvSpPr txBox="1"/>
          <p:nvPr/>
        </p:nvSpPr>
        <p:spPr>
          <a:xfrm>
            <a:off x="5669280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30 - 65</a:t>
            </a:r>
            <a:endParaRPr lang="en-US" sz="1500" dirty="0"/>
          </a:p>
        </p:txBody>
      </p:sp>
      <p:sp>
        <p:nvSpPr>
          <p:cNvPr id="23" name="Acción MODERADO"/>
          <p:cNvSpPr txBox="1"/>
          <p:nvPr/>
        </p:nvSpPr>
        <p:spPr>
          <a:xfrm>
            <a:off x="5669280" y="26700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crédito + plan en 3 cuotas</a:t>
            </a:r>
            <a:endParaRPr lang="en-US" sz="1200" dirty="0"/>
          </a:p>
        </p:txBody>
      </p:sp>
      <p:sp>
        <p:nvSpPr>
          <p:cNvPr id="24" name="Matriz CRÍTICO"/>
          <p:cNvSpPr/>
          <p:nvPr/>
        </p:nvSpPr>
        <p:spPr>
          <a:xfrm>
            <a:off x="4937760" y="3291840"/>
            <a:ext cx="37490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emáforo CRÍTICO"/>
          <p:cNvSpPr/>
          <p:nvPr/>
        </p:nvSpPr>
        <p:spPr>
          <a:xfrm>
            <a:off x="5120640" y="356616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Categoría CRÍTICO"/>
          <p:cNvSpPr txBox="1"/>
          <p:nvPr/>
        </p:nvSpPr>
        <p:spPr>
          <a:xfrm>
            <a:off x="5669280" y="3401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65</a:t>
            </a:r>
            <a:endParaRPr lang="en-US" sz="1500" dirty="0"/>
          </a:p>
        </p:txBody>
      </p:sp>
      <p:sp>
        <p:nvSpPr>
          <p:cNvPr id="27" name="Acción CRÍTICO"/>
          <p:cNvSpPr txBox="1"/>
          <p:nvPr/>
        </p:nvSpPr>
        <p:spPr>
          <a:xfrm>
            <a:off x="5669280" y="37216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Suspensión + reclamación legal · requiere autorización</a:t>
            </a:r>
            <a:endParaRPr lang="en-US" sz="1200" dirty="0"/>
          </a:p>
        </p:txBody>
      </p:sp>
      <p:sp>
        <p:nvSpPr>
          <p:cNvPr id="28" name="Principios skill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 y auditable · no usa edad ni vivienda · loan_status solo para validar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score acierta: el impago crece con el riesgo</a:t>
            </a:r>
            <a:endParaRPr lang="en-US" sz="2800" dirty="0"/>
          </a:p>
        </p:txBody>
      </p:sp>
      <p:graphicFrame>
        <p:nvGraphicFramePr>
          <p:cNvPr id="3" name="Gráfico impago por categoría" descr=""/>
          <p:cNvGraphicFramePr/>
          <p:nvPr/>
        </p:nvGraphicFramePr>
        <p:xfrm>
          <a:off x="45720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ato préstamos CRÍTICOS (3,6 % de la cartera, 18,8 M$)"/>
          <p:cNvSpPr txBox="1"/>
          <p:nvPr/>
        </p:nvSpPr>
        <p:spPr>
          <a:xfrm>
            <a:off x="5760720" y="1188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1.161</a:t>
            </a:r>
            <a:endParaRPr lang="en-US" sz="2800" dirty="0"/>
          </a:p>
        </p:txBody>
      </p:sp>
      <p:sp>
        <p:nvSpPr>
          <p:cNvPr id="5" name="Texto dato préstamos CRÍTICOS (3,6 % de la cartera, 18,8 M$)"/>
          <p:cNvSpPr txBox="1"/>
          <p:nvPr/>
        </p:nvSpPr>
        <p:spPr>
          <a:xfrm>
            <a:off x="57607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CRÍTICOS (3,6 % de la cartera, 18,8 M$)</a:t>
            </a:r>
            <a:endParaRPr lang="en-US" sz="1300" dirty="0"/>
          </a:p>
        </p:txBody>
      </p:sp>
      <p:sp>
        <p:nvSpPr>
          <p:cNvPr id="6" name="Dato la tasa media de impago en CRÍTICO"/>
          <p:cNvSpPr txBox="1"/>
          <p:nvPr/>
        </p:nvSpPr>
        <p:spPr>
          <a:xfrm>
            <a:off x="576072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3,3×</a:t>
            </a:r>
            <a:endParaRPr lang="en-US" sz="2800" dirty="0"/>
          </a:p>
        </p:txBody>
      </p:sp>
      <p:sp>
        <p:nvSpPr>
          <p:cNvPr id="7" name="Texto dato la tasa media de impago en CRÍTICO"/>
          <p:cNvSpPr txBox="1"/>
          <p:nvPr/>
        </p:nvSpPr>
        <p:spPr>
          <a:xfrm>
            <a:off x="576072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media de impago en CRÍTICO</a:t>
            </a:r>
            <a:endParaRPr lang="en-US" sz="1300" dirty="0"/>
          </a:p>
        </p:txBody>
      </p:sp>
      <p:sp>
        <p:nvSpPr>
          <p:cNvPr id="8" name="Dato de los impagos caen en MODERADO + CRÍTICO"/>
          <p:cNvSpPr txBox="1"/>
          <p:nvPr/>
        </p:nvSpPr>
        <p:spPr>
          <a:xfrm>
            <a:off x="5760720" y="3383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77 %</a:t>
            </a:r>
            <a:endParaRPr lang="en-US" sz="2800" dirty="0"/>
          </a:p>
        </p:txBody>
      </p:sp>
      <p:sp>
        <p:nvSpPr>
          <p:cNvPr id="9" name="Texto dato de los impagos caen en MODERADO + CRÍTICO"/>
          <p:cNvSpPr txBox="1"/>
          <p:nvPr/>
        </p:nvSpPr>
        <p:spPr>
          <a:xfrm>
            <a:off x="576072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impagos caen en MODERADO + CRÍTICO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los 20 préstamos de mayor importe</a:t>
            </a:r>
            <a:endParaRPr lang="en-US" sz="2800" dirty="0"/>
          </a:p>
        </p:txBody>
      </p:sp>
      <p:sp>
        <p:nvSpPr>
          <p:cNvPr id="3" name="Tarjeta prompt"/>
          <p:cNvSpPr/>
          <p:nvPr/>
        </p:nvSpPr>
        <p:spPr>
          <a:xfrm>
            <a:off x="457200" y="10972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Prompt demo"/>
          <p:cNvSpPr txBox="1"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«Analiza el riesgo de impago de los 20 préstamos de mayor importe y propón acciones»</a:t>
            </a:r>
            <a:endParaRPr lang="en-US" sz="1500" dirty="0"/>
          </a:p>
        </p:txBody>
      </p:sp>
      <p:graphicFrame>
        <p:nvGraphicFramePr>
          <p:cNvPr id="8" name="Tabla dem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4846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18872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Préstamos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Impagos reales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70.000 $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350.000 $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de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280.000 $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 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Paso 1"/>
          <p:cNvSpPr/>
          <p:nvPr/>
        </p:nvSpPr>
        <p:spPr>
          <a:xfrm>
            <a:off x="5669280" y="191109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úmero paso 1"/>
          <p:cNvSpPr txBox="1"/>
          <p:nvPr/>
        </p:nvSpPr>
        <p:spPr>
          <a:xfrm>
            <a:off x="5669280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o paso 1"/>
          <p:cNvSpPr txBox="1"/>
          <p:nvPr/>
        </p:nvSpPr>
        <p:spPr>
          <a:xfrm>
            <a:off x="6172200" y="1874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Analizar cartera → 700.000 $ expuestos</a:t>
            </a:r>
            <a:endParaRPr lang="en-US" sz="1300" dirty="0"/>
          </a:p>
        </p:txBody>
      </p:sp>
      <p:sp>
        <p:nvSpPr>
          <p:cNvPr id="9" name="Paso 2"/>
          <p:cNvSpPr/>
          <p:nvPr/>
        </p:nvSpPr>
        <p:spPr>
          <a:xfrm>
            <a:off x="5669280" y="25328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úmero paso 2"/>
          <p:cNvSpPr txBox="1"/>
          <p:nvPr/>
        </p:nvSpPr>
        <p:spPr>
          <a:xfrm>
            <a:off x="566928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o paso 2"/>
          <p:cNvSpPr txBox="1"/>
          <p:nvPr/>
        </p:nvSpPr>
        <p:spPr>
          <a:xfrm>
            <a:off x="6172200" y="24963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CRÍTICOS quedan pendientes: el analista pulsa Autorizar</a:t>
            </a:r>
            <a:endParaRPr lang="en-US" sz="1300" dirty="0"/>
          </a:p>
        </p:txBody>
      </p:sp>
      <p:sp>
        <p:nvSpPr>
          <p:cNvPr id="12" name="Paso 3"/>
          <p:cNvSpPr/>
          <p:nvPr/>
        </p:nvSpPr>
        <p:spPr>
          <a:xfrm>
            <a:off x="5669280" y="31546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úmero paso 3"/>
          <p:cNvSpPr txBox="1"/>
          <p:nvPr/>
        </p:nvSpPr>
        <p:spPr>
          <a:xfrm>
            <a:off x="566928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o paso 3"/>
          <p:cNvSpPr txBox="1"/>
          <p:nvPr/>
        </p:nvSpPr>
        <p:spPr>
          <a:xfrm>
            <a:off x="6172200" y="31181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Agente: «¿qué finalidad concentra más riesgo crítico?» → MEDICAL</a:t>
            </a:r>
            <a:endParaRPr lang="en-US" sz="1300" dirty="0"/>
          </a:p>
        </p:txBody>
      </p:sp>
      <p:sp>
        <p:nvSpPr>
          <p:cNvPr id="15" name="Paso 4"/>
          <p:cNvSpPr/>
          <p:nvPr/>
        </p:nvSpPr>
        <p:spPr>
          <a:xfrm>
            <a:off x="5669280" y="377647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úmero paso 4"/>
          <p:cNvSpPr txBox="1"/>
          <p:nvPr/>
        </p:nvSpPr>
        <p:spPr>
          <a:xfrm>
            <a:off x="566928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o paso 4"/>
          <p:cNvSpPr txBox="1"/>
          <p:nvPr/>
        </p:nvSpPr>
        <p:spPr>
          <a:xfrm>
            <a:off x="6172200" y="37398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 agente dan el mismo resultado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de 9 pruebas obligatorias aprobadas</a:t>
            </a:r>
            <a:endParaRPr lang="en-US" sz="2800" dirty="0"/>
          </a:p>
        </p:txBody>
      </p:sp>
      <p:sp>
        <p:nvSpPr>
          <p:cNvPr id="3" name="Prueba Agente"/>
          <p:cNvSpPr/>
          <p:nvPr/>
        </p:nvSpPr>
        <p:spPr>
          <a:xfrm>
            <a:off x="457200" y="118872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 prueba Agente"/>
          <p:cNvSpPr txBox="1"/>
          <p:nvPr/>
        </p:nvSpPr>
        <p:spPr>
          <a:xfrm>
            <a:off x="548640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400" dirty="0"/>
          </a:p>
        </p:txBody>
      </p:sp>
      <p:sp>
        <p:nvSpPr>
          <p:cNvPr id="5" name="Prueba Skill"/>
          <p:cNvSpPr/>
          <p:nvPr/>
        </p:nvSpPr>
        <p:spPr>
          <a:xfrm>
            <a:off x="2057400" y="118872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prueba Skill"/>
          <p:cNvSpPr txBox="1"/>
          <p:nvPr/>
        </p:nvSpPr>
        <p:spPr>
          <a:xfrm>
            <a:off x="2148840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400" dirty="0"/>
          </a:p>
        </p:txBody>
      </p:sp>
      <p:sp>
        <p:nvSpPr>
          <p:cNvPr id="7" name="Prueba MCP"/>
          <p:cNvSpPr/>
          <p:nvPr/>
        </p:nvSpPr>
        <p:spPr>
          <a:xfrm>
            <a:off x="3657600" y="118872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prueba MCP"/>
          <p:cNvSpPr txBox="1"/>
          <p:nvPr/>
        </p:nvSpPr>
        <p:spPr>
          <a:xfrm>
            <a:off x="3749040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9" name="Prueba Base de datos"/>
          <p:cNvSpPr/>
          <p:nvPr/>
        </p:nvSpPr>
        <p:spPr>
          <a:xfrm>
            <a:off x="457200" y="205740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prueba Base de datos"/>
          <p:cNvSpPr txBox="1"/>
          <p:nvPr/>
        </p:nvSpPr>
        <p:spPr>
          <a:xfrm>
            <a:off x="548640" y="2057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11" name="Prueba Backend"/>
          <p:cNvSpPr/>
          <p:nvPr/>
        </p:nvSpPr>
        <p:spPr>
          <a:xfrm>
            <a:off x="2057400" y="205740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 prueba Backend"/>
          <p:cNvSpPr txBox="1"/>
          <p:nvPr/>
        </p:nvSpPr>
        <p:spPr>
          <a:xfrm>
            <a:off x="2148840" y="2057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Prueba Frontend"/>
          <p:cNvSpPr/>
          <p:nvPr/>
        </p:nvSpPr>
        <p:spPr>
          <a:xfrm>
            <a:off x="3657600" y="205740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o prueba Frontend"/>
          <p:cNvSpPr txBox="1"/>
          <p:nvPr/>
        </p:nvSpPr>
        <p:spPr>
          <a:xfrm>
            <a:off x="3749040" y="2057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5" name="Prueba Flujo completo"/>
          <p:cNvSpPr/>
          <p:nvPr/>
        </p:nvSpPr>
        <p:spPr>
          <a:xfrm>
            <a:off x="457200" y="292608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o prueba Flujo completo"/>
          <p:cNvSpPr txBox="1"/>
          <p:nvPr/>
        </p:nvSpPr>
        <p:spPr>
          <a:xfrm>
            <a:off x="548640" y="2926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</a:t>
            </a:r>
            <a:endParaRPr lang="en-US" sz="1400" dirty="0"/>
          </a:p>
        </p:txBody>
      </p:sp>
      <p:sp>
        <p:nvSpPr>
          <p:cNvPr id="17" name="Prueba Errores"/>
          <p:cNvSpPr/>
          <p:nvPr/>
        </p:nvSpPr>
        <p:spPr>
          <a:xfrm>
            <a:off x="2057400" y="292608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o prueba Errores"/>
          <p:cNvSpPr txBox="1"/>
          <p:nvPr/>
        </p:nvSpPr>
        <p:spPr>
          <a:xfrm>
            <a:off x="2148840" y="2926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endParaRPr lang="en-US" sz="1400" dirty="0"/>
          </a:p>
        </p:txBody>
      </p:sp>
      <p:sp>
        <p:nvSpPr>
          <p:cNvPr id="19" name="Prueba Validación BI"/>
          <p:cNvSpPr/>
          <p:nvPr/>
        </p:nvSpPr>
        <p:spPr>
          <a:xfrm>
            <a:off x="3657600" y="292608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o prueba Validación BI"/>
          <p:cNvSpPr txBox="1"/>
          <p:nvPr/>
        </p:nvSpPr>
        <p:spPr>
          <a:xfrm>
            <a:off x="3749040" y="2926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BI</a:t>
            </a:r>
            <a:endParaRPr lang="en-US" sz="1400" dirty="0"/>
          </a:p>
        </p:txBody>
      </p:sp>
      <p:sp>
        <p:nvSpPr>
          <p:cNvPr id="21" name="Titular errores"/>
          <p:cNvSpPr txBox="1"/>
          <p:nvPr/>
        </p:nvSpPr>
        <p:spPr>
          <a:xfrm>
            <a:off x="5440680" y="1188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reales y cómo se resolvieron</a:t>
            </a:r>
            <a:endParaRPr lang="en-US" sz="1500" dirty="0"/>
          </a:p>
        </p:txBody>
      </p:sp>
      <p:sp>
        <p:nvSpPr>
          <p:cNvPr id="22" name="Lista errores"/>
          <p:cNvSpPr txBox="1"/>
          <p:nvPr/>
        </p:nvSpPr>
        <p:spPr>
          <a:xfrm>
            <a:off x="5440680" y="160020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usaba tablas que no existían → skill rediseñada sobre los datos reales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de la API de Supabase inválida → corregida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de MCP 2.x cambió nombres → código adaptado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«borra los préstamos» → el agente se niega; BD en solo lectura</a:t>
            </a:r>
            <a:endParaRPr lang="en-US" sz="1300" dirty="0"/>
          </a:p>
        </p:txBody>
      </p:sp>
      <p:sp>
        <p:nvSpPr>
          <p:cNvPr id="23" name="Resumen automatizadas"/>
          <p:cNvSpPr txBox="1"/>
          <p:nvPr/>
        </p:nvSpPr>
        <p:spPr>
          <a:xfrm>
            <a:off x="457200" y="3931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pruebas automáticas · cifras cruzadas entre SQL directo y Python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Transparencia: lo que aún no resuelve</a:t>
            </a:r>
            <a:endParaRPr lang="en-US" sz="2800" dirty="0"/>
          </a:p>
        </p:txBody>
      </p:sp>
      <p:sp>
        <p:nvSpPr>
          <p:cNvPr id="3" name="Límite Crédito al consumo, no B2B"/>
          <p:cNvSpPr/>
          <p:nvPr/>
        </p:nvSpPr>
        <p:spPr>
          <a:xfrm>
            <a:off x="457200" y="118872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itular límite Crédito al consumo, no B2B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al consumo, no B2B</a:t>
            </a:r>
            <a:endParaRPr lang="en-US" sz="1600" dirty="0"/>
          </a:p>
        </p:txBody>
      </p:sp>
      <p:sp>
        <p:nvSpPr>
          <p:cNvPr id="5" name="Texto límite Crédito al consumo, no B2B"/>
          <p:cNvSpPr txBox="1"/>
          <p:nvPr/>
        </p:nvSpPr>
        <p:spPr>
          <a:xfrm>
            <a:off x="685800" y="17190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sirve para facturas, pero los pesos habría que recalibrarlos</a:t>
            </a:r>
            <a:endParaRPr lang="en-US" sz="1300" dirty="0"/>
          </a:p>
        </p:txBody>
      </p:sp>
      <p:sp>
        <p:nvSpPr>
          <p:cNvPr id="6" name="Límite Pesos de criterio experto"/>
          <p:cNvSpPr/>
          <p:nvPr/>
        </p:nvSpPr>
        <p:spPr>
          <a:xfrm>
            <a:off x="4663440" y="118872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itular límite Pesos de criterio experto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de criterio experto</a:t>
            </a:r>
            <a:endParaRPr lang="en-US" sz="1600" dirty="0"/>
          </a:p>
        </p:txBody>
      </p:sp>
      <p:sp>
        <p:nvSpPr>
          <p:cNvPr id="8" name="Texto límite Pesos de criterio experto"/>
          <p:cNvSpPr txBox="1"/>
          <p:nvPr/>
        </p:nvSpPr>
        <p:spPr>
          <a:xfrm>
            <a:off x="4892040" y="17190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Ordenan bien el riesgo (AUC 0,793), pero no están entrenados</a:t>
            </a:r>
            <a:endParaRPr lang="en-US" sz="1300" dirty="0"/>
          </a:p>
        </p:txBody>
      </p:sp>
      <p:sp>
        <p:nvSpPr>
          <p:cNvPr id="9" name="Límite CRÍTICO es preciso, no exhaustivo"/>
          <p:cNvSpPr/>
          <p:nvPr/>
        </p:nvSpPr>
        <p:spPr>
          <a:xfrm>
            <a:off x="457200" y="260604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tular límite CRÍTICO es preciso, no exhaustivo"/>
          <p:cNvSpPr txBox="1"/>
          <p:nvPr/>
        </p:nvSpPr>
        <p:spPr>
          <a:xfrm>
            <a:off x="68580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es preciso, no exhaustivo</a:t>
            </a:r>
            <a:endParaRPr lang="en-US" sz="1600" dirty="0"/>
          </a:p>
        </p:txBody>
      </p:sp>
      <p:sp>
        <p:nvSpPr>
          <p:cNvPr id="11" name="Texto límite CRÍTICO es preciso, no exhaustivo"/>
          <p:cNvSpPr txBox="1"/>
          <p:nvPr/>
        </p:nvSpPr>
        <p:spPr>
          <a:xfrm>
            <a:off x="685800" y="31363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el 11,8 % de los impagos; el 65 % cae en MODERADO</a:t>
            </a:r>
            <a:endParaRPr lang="en-US" sz="1300" dirty="0"/>
          </a:p>
        </p:txBody>
      </p:sp>
      <p:sp>
        <p:nvSpPr>
          <p:cNvPr id="12" name="Límite Datos sin fechas"/>
          <p:cNvSpPr/>
          <p:nvPr/>
        </p:nvSpPr>
        <p:spPr>
          <a:xfrm>
            <a:off x="4663440" y="260604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itular límite Datos sin fechas"/>
          <p:cNvSpPr txBox="1"/>
          <p:nvPr/>
        </p:nvSpPr>
        <p:spPr>
          <a:xfrm>
            <a:off x="489204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sin fechas</a:t>
            </a:r>
            <a:endParaRPr lang="en-US" sz="1600" dirty="0"/>
          </a:p>
        </p:txBody>
      </p:sp>
      <p:sp>
        <p:nvSpPr>
          <p:cNvPr id="14" name="Texto límite Datos sin fechas"/>
          <p:cNvSpPr txBox="1"/>
          <p:nvPr/>
        </p:nvSpPr>
        <p:spPr>
          <a:xfrm>
            <a:off x="4892040" y="31363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medir DSO ni evolución temporal</a:t>
            </a:r>
            <a:endParaRPr lang="en-US" sz="1300" dirty="0"/>
          </a:p>
        </p:txBody>
      </p:sp>
      <p:sp>
        <p:nvSpPr>
          <p:cNvPr id="15" name="Siguiente paso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calibrar los pesos con regresión logística y compararla con la fórmula actual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aprendimos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488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cada cifra contra los datos y cuestionar a la IA cuando proponía algo que no existía</a:t>
            </a:r>
            <a:endParaRPr lang="en-US" sz="2000" dirty="0"/>
          </a:p>
        </p:txBody>
      </p:sp>
      <p:sp>
        <p:nvSpPr>
          <p:cNvPr id="4" name="Aprendizaje Datos primero"/>
          <p:cNvSpPr txBox="1"/>
          <p:nvPr/>
        </p:nvSpPr>
        <p:spPr>
          <a:xfrm>
            <a:off x="5486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primero</a:t>
            </a:r>
            <a:endParaRPr lang="en-US" sz="1700" dirty="0"/>
          </a:p>
        </p:txBody>
      </p:sp>
      <p:sp>
        <p:nvSpPr>
          <p:cNvPr id="5" name="Texto aprendizaje Datos primero"/>
          <p:cNvSpPr txBox="1"/>
          <p:nvPr/>
        </p:nvSpPr>
        <p:spPr>
          <a:xfrm>
            <a:off x="548640" y="3749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sobre lo que hay en la base de datos, no sobre lo que imaginamos</a:t>
            </a:r>
            <a:endParaRPr lang="en-US" sz="1300" dirty="0"/>
          </a:p>
        </p:txBody>
      </p:sp>
      <p:sp>
        <p:nvSpPr>
          <p:cNvPr id="6" name="Aprendizaje La IA se revisa"/>
          <p:cNvSpPr txBox="1"/>
          <p:nvPr/>
        </p:nvSpPr>
        <p:spPr>
          <a:xfrm>
            <a:off x="32918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se revisa</a:t>
            </a:r>
            <a:endParaRPr lang="en-US" sz="1700" dirty="0"/>
          </a:p>
        </p:txBody>
      </p:sp>
      <p:sp>
        <p:nvSpPr>
          <p:cNvPr id="7" name="Texto aprendizaje La IA se revisa"/>
          <p:cNvSpPr txBox="1"/>
          <p:nvPr/>
        </p:nvSpPr>
        <p:spPr>
          <a:xfrm>
            <a:off x="3291840" y="3749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Contrastamos sus resultados con SQL directo y no le dejamos aprobarse permisos</a:t>
            </a:r>
            <a:endParaRPr lang="en-US" sz="1300" dirty="0"/>
          </a:p>
        </p:txBody>
      </p:sp>
      <p:sp>
        <p:nvSpPr>
          <p:cNvPr id="8" name="Aprendizaje Humano al mando"/>
          <p:cNvSpPr txBox="1"/>
          <p:nvPr/>
        </p:nvSpPr>
        <p:spPr>
          <a:xfrm>
            <a:off x="60350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al mando</a:t>
            </a:r>
            <a:endParaRPr lang="en-US" sz="1700" dirty="0"/>
          </a:p>
        </p:txBody>
      </p:sp>
      <p:sp>
        <p:nvSpPr>
          <p:cNvPr id="9" name="Texto aprendizaje Humano al mando"/>
          <p:cNvSpPr txBox="1"/>
          <p:nvPr/>
        </p:nvSpPr>
        <p:spPr>
          <a:xfrm>
            <a:off x="6035040" y="3749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duras de cobro siempre las autoriza una persona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tGuard">
  <a:themeElements>
    <a:clrScheme name="CreditGuard">
      <a:dk1>
        <a:srgbClr val="16212E"/>
      </a:dk1>
      <a:lt1>
        <a:srgbClr val="FFFFFF"/>
      </a:lt1>
      <a:dk2>
        <a:srgbClr val="2B3B4F"/>
      </a:dk2>
      <a:lt2>
        <a:srgbClr val="EEF2F6"/>
      </a:lt2>
      <a:accent1>
        <a:srgbClr val="0E7C72"/>
      </a:accent1>
      <a:accent2>
        <a:srgbClr val="2F7D4F"/>
      </a:accent2>
      <a:accent3>
        <a:srgbClr val="C7820A"/>
      </a:accent3>
      <a:accent4>
        <a:srgbClr val="B42318"/>
      </a:accent4>
      <a:accent5>
        <a:srgbClr val="5B6B7D"/>
      </a:accent5>
      <a:accent6>
        <a:srgbClr val="D7EEEB"/>
      </a:accent6>
      <a:hlink>
        <a:srgbClr val="0E7C72"/>
      </a:hlink>
      <a:folHlink>
        <a:srgbClr val="2B3B4F"/>
      </a:folHlink>
    </a:clrScheme>
    <a:fontScheme name="Credit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CreditGuard AI</dc:title>
  <dc:subject>PptxGenJS Presentation</dc:subject>
  <dc:creator>Equipo CreditGuard AI</dc:creator>
  <cp:lastModifiedBy>Equipo CreditGuard AI</cp:lastModifiedBy>
  <cp:revision>1</cp:revision>
  <dcterms:created xsi:type="dcterms:W3CDTF">2026-10-29T00:45:35Z</dcterms:created>
  <dcterms:modified xsi:type="dcterms:W3CDTF">2026-10-29T00:45:35Z</dcterms:modified>
</cp:coreProperties>
</file>