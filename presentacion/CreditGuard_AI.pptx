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9223304-91e5-5603-a8ed-2bf0cee64149}">
          <p14:sldIdLst>
            <p14:sldId id="256"/>
          </p14:sldIdLst>
        </p14:section>
        <p14:section name="1. Problema y oportunidad" id="{7cca364d-7610-b75b-d80e-0d7b2243397f}">
          <p14:sldIdLst>
            <p14:sldId id="257"/>
          </p14:sldIdLst>
        </p14:section>
        <p14:section name="2. Arquitectura, Skills, MCP y datos" id="{a4461b9d-173c-3c31-3012-de54b4788056}">
          <p14:sldIdLst>
            <p14:sldId id="258"/>
            <p14:sldId id="259"/>
            <p14:sldId id="260"/>
            <p14:sldId id="261"/>
          </p14:sldIdLst>
        </p14:section>
        <p14:section name="3. Resultados" id="{90b75c63-606e-c324-3018-fa4942470314}">
          <p14:sldIdLst>
            <p14:sldId id="262"/>
          </p14:sldIdLst>
        </p14:section>
        <p14:section name="4. Pruebas y errores" id="{31c41a13-9596-7fdd-cb59-964d8611383f}">
          <p14:sldIdLst>
            <p14:sldId id="263"/>
            <p14:sldId id="264"/>
          </p14:sldIdLst>
        </p14:section>
        <p14:section name="5. Reflexión" id="{8e7b4001-6c4a-d57c-e7f8-379740768685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3B4F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B3B4F"/>
                </a:solidFill>
                <a:latin typeface="+mn-lt"/>
              </a:rPr>
              <a:t>Tasa de impago real por categoría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BAJO · 8,2 %</c:v>
                </c:pt>
              </c:strCache>
            </c:strRef>
          </c:tx>
          <c:spPr>
            <a:solidFill>
              <a:srgbClr val="2F7D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MODERADO · 39,8 %</c:v>
                </c:pt>
              </c:strCache>
            </c:strRef>
          </c:tx>
          <c:spPr>
            <a:solidFill>
              <a:srgbClr val="C7820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39.8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CRÍTICO · 72,1 %</c:v>
                </c:pt>
              </c:strCache>
            </c:strRef>
          </c:tx>
          <c:spPr>
            <a:solidFill>
              <a:srgbClr val="B4231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Tasa de impago real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2B3B4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CreditGuard AI · Hackathon BI agéntico INESDI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CreditGuard AI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de BI que detecta el riesgo de impago antes de que ocurra y propone qué hacer con cada préstamo</a:t>
            </a:r>
            <a:endParaRPr lang="en-US" sz="2000" dirty="0"/>
          </a:p>
        </p:txBody>
      </p:sp>
      <p:sp>
        <p:nvSpPr>
          <p:cNvPr id="4" name="Punto impago real en BAJO"/>
          <p:cNvSpPr/>
          <p:nvPr/>
        </p:nvSpPr>
        <p:spPr>
          <a:xfrm>
            <a:off x="548640" y="3685032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Cifra impago real en BAJO"/>
          <p:cNvSpPr txBox="1"/>
          <p:nvPr/>
        </p:nvSpPr>
        <p:spPr>
          <a:xfrm>
            <a:off x="804672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8,2 %</a:t>
            </a:r>
            <a:endParaRPr lang="en-US" sz="2800" dirty="0"/>
          </a:p>
        </p:txBody>
      </p:sp>
      <p:sp>
        <p:nvSpPr>
          <p:cNvPr id="6" name="Etiqueta impago real en BAJO"/>
          <p:cNvSpPr txBox="1"/>
          <p:nvPr/>
        </p:nvSpPr>
        <p:spPr>
          <a:xfrm>
            <a:off x="804672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BAJO</a:t>
            </a:r>
            <a:endParaRPr lang="en-US" sz="1200" dirty="0"/>
          </a:p>
        </p:txBody>
      </p:sp>
      <p:sp>
        <p:nvSpPr>
          <p:cNvPr id="7" name="Punto impago real en CRÍTICO"/>
          <p:cNvSpPr/>
          <p:nvPr/>
        </p:nvSpPr>
        <p:spPr>
          <a:xfrm>
            <a:off x="2926080" y="3685032"/>
            <a:ext cx="146304" cy="14630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Cifra impago real en CRÍTICO"/>
          <p:cNvSpPr txBox="1"/>
          <p:nvPr/>
        </p:nvSpPr>
        <p:spPr>
          <a:xfrm>
            <a:off x="3182112" y="3429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72,1 %</a:t>
            </a:r>
            <a:endParaRPr lang="en-US" sz="2800" dirty="0"/>
          </a:p>
        </p:txBody>
      </p:sp>
      <p:sp>
        <p:nvSpPr>
          <p:cNvPr id="9" name="Etiqueta impago real en CRÍTICO"/>
          <p:cNvSpPr txBox="1"/>
          <p:nvPr/>
        </p:nvSpPr>
        <p:spPr>
          <a:xfrm>
            <a:off x="3182112" y="3886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real en CRÍTICO</a:t>
            </a:r>
            <a:endParaRPr lang="en-US" sz="1200" dirty="0"/>
          </a:p>
        </p:txBody>
      </p:sp>
      <p:sp>
        <p:nvSpPr>
          <p:cNvPr id="10" name="Equipo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Mario Brochero López · Sofía Montero Jara · Santiago Nicolás Viuche Pinilla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cobro llega tarde: se actúa tras el impago</a:t>
            </a:r>
            <a:endParaRPr lang="en-US" sz="2800" dirty="0"/>
          </a:p>
        </p:txBody>
      </p:sp>
      <p:sp>
        <p:nvSpPr>
          <p:cNvPr id="3" name="Icono Hoy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Número Hoy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itular Hoy"/>
          <p:cNvSpPr txBox="1"/>
          <p:nvPr/>
        </p:nvSpPr>
        <p:spPr>
          <a:xfrm>
            <a:off x="1051560" y="11887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800" dirty="0"/>
          </a:p>
        </p:txBody>
      </p:sp>
      <p:sp>
        <p:nvSpPr>
          <p:cNvPr id="6" name="Texto Hoy"/>
          <p:cNvSpPr txBox="1"/>
          <p:nvPr/>
        </p:nvSpPr>
        <p:spPr>
          <a:xfrm>
            <a:off x="1051560" y="15361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manual y reactiva de la cartera; el esfuerzo se reparte igual entre préstamos de riesgo muy distinto</a:t>
            </a:r>
            <a:endParaRPr lang="en-US" sz="1400" dirty="0"/>
          </a:p>
        </p:txBody>
      </p:sp>
      <p:sp>
        <p:nvSpPr>
          <p:cNvPr id="7" name="Icono Mercado"/>
          <p:cNvSpPr/>
          <p:nvPr/>
        </p:nvSpPr>
        <p:spPr>
          <a:xfrm>
            <a:off x="457200" y="233172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Número Mercado"/>
          <p:cNvSpPr txBox="1"/>
          <p:nvPr/>
        </p:nvSpPr>
        <p:spPr>
          <a:xfrm>
            <a:off x="457200" y="2331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itular Mercado"/>
          <p:cNvSpPr txBox="1"/>
          <p:nvPr/>
        </p:nvSpPr>
        <p:spPr>
          <a:xfrm>
            <a:off x="1051560" y="228600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800" dirty="0"/>
          </a:p>
        </p:txBody>
      </p:sp>
      <p:sp>
        <p:nvSpPr>
          <p:cNvPr id="10" name="Texto Mercado"/>
          <p:cNvSpPr txBox="1"/>
          <p:nvPr/>
        </p:nvSpPr>
        <p:spPr>
          <a:xfrm>
            <a:off x="1051560" y="263347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con informes estáticos, automatización de cobros por reglas simples y scoring externo que no prescribe acciones</a:t>
            </a:r>
            <a:endParaRPr lang="en-US" sz="1400" dirty="0"/>
          </a:p>
        </p:txBody>
      </p:sp>
      <p:sp>
        <p:nvSpPr>
          <p:cNvPr id="11" name="Icono Oportunidad"/>
          <p:cNvSpPr/>
          <p:nvPr/>
        </p:nvSpPr>
        <p:spPr>
          <a:xfrm>
            <a:off x="457200" y="3429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úmero Oportunidad"/>
          <p:cNvSpPr txBox="1"/>
          <p:nvPr/>
        </p:nvSpPr>
        <p:spPr>
          <a:xfrm>
            <a:off x="45720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itular Oportunidad"/>
          <p:cNvSpPr txBox="1"/>
          <p:nvPr/>
        </p:nvSpPr>
        <p:spPr>
          <a:xfrm>
            <a:off x="1051560" y="33832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</a:t>
            </a:r>
            <a:endParaRPr lang="en-US" sz="1800" dirty="0"/>
          </a:p>
        </p:txBody>
      </p:sp>
      <p:sp>
        <p:nvSpPr>
          <p:cNvPr id="14" name="Texto Oportunidad"/>
          <p:cNvSpPr txBox="1"/>
          <p:nvPr/>
        </p:nvSpPr>
        <p:spPr>
          <a:xfrm>
            <a:off x="1051560" y="373075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agente que consulta los datos, puntúa el riesgo de forma explicable y propone la acción, con control humano</a:t>
            </a:r>
            <a:endParaRPr lang="en-US" sz="1400" dirty="0"/>
          </a:p>
        </p:txBody>
      </p:sp>
      <p:sp>
        <p:nvSpPr>
          <p:cNvPr id="15" name="Tarjeta problemas"/>
          <p:cNvSpPr/>
          <p:nvPr/>
        </p:nvSpPr>
        <p:spPr>
          <a:xfrm>
            <a:off x="5394960" y="1188720"/>
            <a:ext cx="3291840" cy="320040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itular problemas"/>
          <p:cNvSpPr txBox="1"/>
          <p:nvPr/>
        </p:nvSpPr>
        <p:spPr>
          <a:xfrm>
            <a:off x="5623560" y="13258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problemas de BI evaluados</a:t>
            </a:r>
            <a:endParaRPr lang="en-US" sz="1600" dirty="0"/>
          </a:p>
        </p:txBody>
      </p:sp>
      <p:sp>
        <p:nvSpPr>
          <p:cNvPr id="17" name="Problema 1"/>
          <p:cNvSpPr txBox="1"/>
          <p:nvPr/>
        </p:nvSpPr>
        <p:spPr>
          <a:xfrm>
            <a:off x="5623560" y="1783080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impago en cartera de crédito</a:t>
            </a:r>
            <a:endParaRPr lang="en-US" sz="1400" dirty="0"/>
          </a:p>
        </p:txBody>
      </p:sp>
      <p:sp>
        <p:nvSpPr>
          <p:cNvPr id="18" name="Problema 2"/>
          <p:cNvSpPr txBox="1"/>
          <p:nvPr/>
        </p:nvSpPr>
        <p:spPr>
          <a:xfrm>
            <a:off x="5623560" y="216712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Churn en SaaS B2B</a:t>
            </a:r>
            <a:endParaRPr lang="en-US" sz="1400" dirty="0"/>
          </a:p>
        </p:txBody>
      </p:sp>
      <p:sp>
        <p:nvSpPr>
          <p:cNvPr id="19" name="Problema 3"/>
          <p:cNvSpPr txBox="1"/>
          <p:nvPr/>
        </p:nvSpPr>
        <p:spPr>
          <a:xfrm>
            <a:off x="5623560" y="2551176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Retraso de cobro B2B (DSO)</a:t>
            </a:r>
            <a:endParaRPr lang="en-US" sz="1400" dirty="0"/>
          </a:p>
        </p:txBody>
      </p:sp>
      <p:sp>
        <p:nvSpPr>
          <p:cNvPr id="20" name="Problema 4"/>
          <p:cNvSpPr txBox="1"/>
          <p:nvPr/>
        </p:nvSpPr>
        <p:spPr>
          <a:xfrm>
            <a:off x="5623560" y="2935224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Previsión de demanda retail</a:t>
            </a:r>
            <a:endParaRPr lang="en-US" sz="1400" dirty="0"/>
          </a:p>
        </p:txBody>
      </p:sp>
      <p:sp>
        <p:nvSpPr>
          <p:cNvPr id="21" name="Problema 5"/>
          <p:cNvSpPr txBox="1"/>
          <p:nvPr/>
        </p:nvSpPr>
        <p:spPr>
          <a:xfrm>
            <a:off x="5623560" y="3319272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Fraude en pagos</a:t>
            </a:r>
            <a:endParaRPr lang="en-US" sz="1400" dirty="0"/>
          </a:p>
        </p:txBody>
      </p:sp>
      <p:sp>
        <p:nvSpPr>
          <p:cNvPr id="22" name="Motivo elección"/>
          <p:cNvSpPr txBox="1"/>
          <p:nvPr/>
        </p:nvSpPr>
        <p:spPr>
          <a:xfrm>
            <a:off x="5623560" y="3749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Elegido: tiene datos reales con el resultado conocido, así que podemos validar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reales: 32.581 préstamos con su resultado</a:t>
            </a:r>
            <a:endParaRPr lang="en-US" sz="2800" dirty="0"/>
          </a:p>
        </p:txBody>
      </p:sp>
      <p:sp>
        <p:nvSpPr>
          <p:cNvPr id="3" name="KPI préstamos reales (Kaggle, CC0)"/>
          <p:cNvSpPr/>
          <p:nvPr/>
        </p:nvSpPr>
        <p:spPr>
          <a:xfrm>
            <a:off x="45720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Valor préstamos reales (Kaggle, CC0)"/>
          <p:cNvSpPr txBox="1"/>
          <p:nvPr/>
        </p:nvSpPr>
        <p:spPr>
          <a:xfrm>
            <a:off x="64008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32.581</a:t>
            </a:r>
            <a:endParaRPr lang="en-US" sz="3000" dirty="0"/>
          </a:p>
        </p:txBody>
      </p:sp>
      <p:sp>
        <p:nvSpPr>
          <p:cNvPr id="5" name="Texto préstamos reales (Kaggle, CC0)"/>
          <p:cNvSpPr txBox="1"/>
          <p:nvPr/>
        </p:nvSpPr>
        <p:spPr>
          <a:xfrm>
            <a:off x="64008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reales (Kaggle, CC0)</a:t>
            </a:r>
            <a:endParaRPr lang="en-US" sz="1300" dirty="0"/>
          </a:p>
        </p:txBody>
      </p:sp>
      <p:sp>
        <p:nvSpPr>
          <p:cNvPr id="6" name="KPI importe total de la cartera"/>
          <p:cNvSpPr/>
          <p:nvPr/>
        </p:nvSpPr>
        <p:spPr>
          <a:xfrm>
            <a:off x="256032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Valor importe total de la cartera"/>
          <p:cNvSpPr txBox="1"/>
          <p:nvPr/>
        </p:nvSpPr>
        <p:spPr>
          <a:xfrm>
            <a:off x="274320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312,4 M$</a:t>
            </a:r>
            <a:endParaRPr lang="en-US" sz="3000" dirty="0"/>
          </a:p>
        </p:txBody>
      </p:sp>
      <p:sp>
        <p:nvSpPr>
          <p:cNvPr id="8" name="Texto importe total de la cartera"/>
          <p:cNvSpPr txBox="1"/>
          <p:nvPr/>
        </p:nvSpPr>
        <p:spPr>
          <a:xfrm>
            <a:off x="274320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 total de la cartera</a:t>
            </a:r>
            <a:endParaRPr lang="en-US" sz="1300" dirty="0"/>
          </a:p>
        </p:txBody>
      </p:sp>
      <p:sp>
        <p:nvSpPr>
          <p:cNvPr id="9" name="KPI tasa de impago global"/>
          <p:cNvSpPr/>
          <p:nvPr/>
        </p:nvSpPr>
        <p:spPr>
          <a:xfrm>
            <a:off x="466344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Valor tasa de impago global"/>
          <p:cNvSpPr txBox="1"/>
          <p:nvPr/>
        </p:nvSpPr>
        <p:spPr>
          <a:xfrm>
            <a:off x="484632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21,82 %</a:t>
            </a:r>
            <a:endParaRPr lang="en-US" sz="3000" dirty="0"/>
          </a:p>
        </p:txBody>
      </p:sp>
      <p:sp>
        <p:nvSpPr>
          <p:cNvPr id="11" name="Texto tasa de impago global"/>
          <p:cNvSpPr txBox="1"/>
          <p:nvPr/>
        </p:nvSpPr>
        <p:spPr>
          <a:xfrm>
            <a:off x="484632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 de impago global</a:t>
            </a:r>
            <a:endParaRPr lang="en-US" sz="1300" dirty="0"/>
          </a:p>
        </p:txBody>
      </p:sp>
      <p:sp>
        <p:nvSpPr>
          <p:cNvPr id="12" name="KPI AUC del score frente al impago real"/>
          <p:cNvSpPr/>
          <p:nvPr/>
        </p:nvSpPr>
        <p:spPr>
          <a:xfrm>
            <a:off x="6766560" y="1234440"/>
            <a:ext cx="19202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Valor AUC del score frente al impago real"/>
          <p:cNvSpPr txBox="1"/>
          <p:nvPr/>
        </p:nvSpPr>
        <p:spPr>
          <a:xfrm>
            <a:off x="6949440" y="14173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0,793</a:t>
            </a:r>
            <a:endParaRPr lang="en-US" sz="3000" dirty="0"/>
          </a:p>
        </p:txBody>
      </p:sp>
      <p:sp>
        <p:nvSpPr>
          <p:cNvPr id="14" name="Texto AUC del score frente al impago real"/>
          <p:cNvSpPr txBox="1"/>
          <p:nvPr/>
        </p:nvSpPr>
        <p:spPr>
          <a:xfrm>
            <a:off x="6949440" y="21488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del score frente al impago real</a:t>
            </a:r>
            <a:endParaRPr lang="en-US" sz="1300" dirty="0"/>
          </a:p>
        </p:txBody>
      </p:sp>
      <p:sp>
        <p:nvSpPr>
          <p:cNvPr id="15" name="Notas de datos"/>
          <p:cNvSpPr txBox="1"/>
          <p:nvPr/>
        </p:nvSpPr>
        <p:spPr>
          <a:xfrm>
            <a:off x="457200" y="3108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 (PostgreSQL)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tabla public.credit_risk, 13 columnas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documentada: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9,6 % sin tipo de interés (se imputa y se avisa), 7 edades atípicas, 165 duplicados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Ética: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datos personales identificables; el score no usa edad ni vivienda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agente, dos MCP y una sola lógica de negocio</a:t>
            </a:r>
            <a:endParaRPr lang="en-US" sz="2800" dirty="0"/>
          </a:p>
        </p:txBody>
      </p:sp>
      <p:sp>
        <p:nvSpPr>
          <p:cNvPr id="3" name="Usuario"/>
          <p:cNvSpPr/>
          <p:nvPr/>
        </p:nvSpPr>
        <p:spPr>
          <a:xfrm>
            <a:off x="457200" y="16002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o Usuario"/>
          <p:cNvSpPr txBox="1"/>
          <p:nvPr/>
        </p:nvSpPr>
        <p:spPr>
          <a:xfrm>
            <a:off x="54864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o web Streamlit</a:t>
            </a:r>
            <a:endParaRPr lang="en-US" sz="1400" dirty="0"/>
          </a:p>
        </p:txBody>
      </p:sp>
      <p:sp>
        <p:nvSpPr>
          <p:cNvPr id="5" name="Agente"/>
          <p:cNvSpPr/>
          <p:nvPr/>
        </p:nvSpPr>
        <p:spPr>
          <a:xfrm>
            <a:off x="2423160" y="1600200"/>
            <a:ext cx="160020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o Agente"/>
          <p:cNvSpPr txBox="1"/>
          <p:nvPr/>
        </p:nvSpPr>
        <p:spPr>
          <a:xfrm>
            <a:off x="2514600" y="160020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CreditGuard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</a:t>
            </a:r>
            <a:endParaRPr lang="en-US" sz="1400" dirty="0"/>
          </a:p>
        </p:txBody>
      </p:sp>
      <p:sp>
        <p:nvSpPr>
          <p:cNvPr id="7" name="MCP Supabase"/>
          <p:cNvSpPr/>
          <p:nvPr/>
        </p:nvSpPr>
        <p:spPr>
          <a:xfrm>
            <a:off x="4434840" y="11430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 MCP Supabase"/>
          <p:cNvSpPr txBox="1"/>
          <p:nvPr/>
        </p:nvSpPr>
        <p:spPr>
          <a:xfrm>
            <a:off x="4526280" y="1143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execute_sql · solo lectura</a:t>
            </a:r>
            <a:endParaRPr lang="en-US" sz="1400" dirty="0"/>
          </a:p>
        </p:txBody>
      </p:sp>
      <p:sp>
        <p:nvSpPr>
          <p:cNvPr id="9" name="MCP propio"/>
          <p:cNvSpPr/>
          <p:nvPr/>
        </p:nvSpPr>
        <p:spPr>
          <a:xfrm>
            <a:off x="4434840" y="20574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Texto MCP propio"/>
          <p:cNvSpPr txBox="1"/>
          <p:nvPr/>
        </p:nvSpPr>
        <p:spPr>
          <a:xfrm>
            <a:off x="4526280" y="20574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credit-risk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nuestro servidor</a:t>
            </a:r>
            <a:endParaRPr lang="en-US" sz="1400" dirty="0"/>
          </a:p>
        </p:txBody>
      </p:sp>
      <p:sp>
        <p:nvSpPr>
          <p:cNvPr id="11" name="Backend"/>
          <p:cNvSpPr/>
          <p:nvPr/>
        </p:nvSpPr>
        <p:spPr>
          <a:xfrm>
            <a:off x="4434840" y="2971800"/>
            <a:ext cx="1828800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2" name="Texto Backend"/>
          <p:cNvSpPr txBox="1"/>
          <p:nvPr/>
        </p:nvSpPr>
        <p:spPr>
          <a:xfrm>
            <a:off x="4526280" y="29718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Skill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servicio.py · credit_risk.py</a:t>
            </a:r>
            <a:endParaRPr lang="en-US" sz="1400" dirty="0"/>
          </a:p>
        </p:txBody>
      </p:sp>
      <p:sp>
        <p:nvSpPr>
          <p:cNvPr id="13" name="BD"/>
          <p:cNvSpPr/>
          <p:nvPr/>
        </p:nvSpPr>
        <p:spPr>
          <a:xfrm>
            <a:off x="6766560" y="1143000"/>
            <a:ext cx="1920240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 BD"/>
          <p:cNvSpPr txBox="1"/>
          <p:nvPr/>
        </p:nvSpPr>
        <p:spPr>
          <a:xfrm>
            <a:off x="6858000" y="11430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Supabase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32.581 préstamos</a:t>
            </a:r>
            <a:endParaRPr lang="en-US" sz="1400" dirty="0"/>
          </a:p>
        </p:txBody>
      </p:sp>
      <p:sp>
        <p:nvSpPr>
          <p:cNvPr id="15" name="Resultado"/>
          <p:cNvSpPr/>
          <p:nvPr/>
        </p:nvSpPr>
        <p:spPr>
          <a:xfrm>
            <a:off x="6766560" y="2971800"/>
            <a:ext cx="192024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o Resultado"/>
          <p:cNvSpPr txBox="1"/>
          <p:nvPr/>
        </p:nvSpPr>
        <p:spPr>
          <a:xfrm>
            <a:off x="6858000" y="297180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BI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· tabla · acciones</a:t>
            </a:r>
            <a:endParaRPr lang="en-US" sz="1400" dirty="0"/>
          </a:p>
        </p:txBody>
      </p:sp>
      <p:sp>
        <p:nvSpPr>
          <p:cNvPr id="17" name="Flecha usuario-agente"/>
          <p:cNvSpPr/>
          <p:nvPr/>
        </p:nvSpPr>
        <p:spPr>
          <a:xfrm>
            <a:off x="2057400" y="1984248"/>
            <a:ext cx="3657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Flecha agente-supabase"/>
          <p:cNvSpPr/>
          <p:nvPr/>
        </p:nvSpPr>
        <p:spPr>
          <a:xfrm flipV="1">
            <a:off x="4023360" y="1527048"/>
            <a:ext cx="411480" cy="301752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Flecha agente-propio"/>
          <p:cNvSpPr/>
          <p:nvPr/>
        </p:nvSpPr>
        <p:spPr>
          <a:xfrm>
            <a:off x="4023360" y="2148840"/>
            <a:ext cx="411480" cy="29260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Flecha propio-backend"/>
          <p:cNvSpPr/>
          <p:nvPr/>
        </p:nvSpPr>
        <p:spPr>
          <a:xfrm>
            <a:off x="5349240" y="2834640"/>
            <a:ext cx="914" cy="13716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Flecha supabase-bd"/>
          <p:cNvSpPr/>
          <p:nvPr/>
        </p:nvSpPr>
        <p:spPr>
          <a:xfrm>
            <a:off x="6263640" y="1527048"/>
            <a:ext cx="5029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Flecha backend-resultado"/>
          <p:cNvSpPr/>
          <p:nvPr/>
        </p:nvSpPr>
        <p:spPr>
          <a:xfrm>
            <a:off x="6263640" y="3355848"/>
            <a:ext cx="5029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Flecha backend-bd"/>
          <p:cNvSpPr/>
          <p:nvPr/>
        </p:nvSpPr>
        <p:spPr>
          <a:xfrm flipV="1">
            <a:off x="6263640" y="1920240"/>
            <a:ext cx="685800" cy="118872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Línea web vertical"/>
          <p:cNvSpPr/>
          <p:nvPr/>
        </p:nvSpPr>
        <p:spPr>
          <a:xfrm>
            <a:off x="1257300" y="2377440"/>
            <a:ext cx="914" cy="9829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25" name="Línea web horizontal"/>
          <p:cNvSpPr/>
          <p:nvPr/>
        </p:nvSpPr>
        <p:spPr>
          <a:xfrm>
            <a:off x="1257300" y="3360420"/>
            <a:ext cx="317754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26" name="Etiqueta web"/>
          <p:cNvSpPr txBox="1"/>
          <p:nvPr/>
        </p:nvSpPr>
        <p:spPr>
          <a:xfrm>
            <a:off x="1371600" y="3044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→ mismo backend</a:t>
            </a:r>
            <a:endParaRPr lang="en-US" sz="1200" dirty="0"/>
          </a:p>
        </p:txBody>
      </p:sp>
      <p:sp>
        <p:nvSpPr>
          <p:cNvPr id="27" name="Notas arquitectura"/>
          <p:cNvSpPr txBox="1"/>
          <p:nvPr/>
        </p:nvSpPr>
        <p:spPr>
          <a:xfrm>
            <a:off x="457200" y="393192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Librería de GitHub adaptada: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oficial de MCP para Python → servidor propio credit-risk con 3 herramientas.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solo lectura; lo CRÍTICO espera autorización humana.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Skill: un score de 0 a 100 explicable</a:t>
            </a:r>
            <a:endParaRPr lang="en-US" sz="2800" dirty="0"/>
          </a:p>
        </p:txBody>
      </p:sp>
      <p:sp>
        <p:nvSpPr>
          <p:cNvPr id="3" name="Titular factores"/>
          <p:cNvSpPr txBox="1"/>
          <p:nvPr/>
        </p:nvSpPr>
        <p:spPr>
          <a:xfrm>
            <a:off x="45720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máximo de cada factor</a:t>
            </a:r>
            <a:endParaRPr lang="en-US" sz="1400" dirty="0"/>
          </a:p>
        </p:txBody>
      </p:sp>
      <p:sp>
        <p:nvSpPr>
          <p:cNvPr id="4" name="Factor Esfuerzo financiero"/>
          <p:cNvSpPr txBox="1"/>
          <p:nvPr/>
        </p:nvSpPr>
        <p:spPr>
          <a:xfrm>
            <a:off x="457200" y="15544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Esfuerzo financiero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 / ingresos</a:t>
            </a:r>
            <a:endParaRPr lang="en-US" sz="1400" dirty="0"/>
          </a:p>
        </p:txBody>
      </p:sp>
      <p:sp>
        <p:nvSpPr>
          <p:cNvPr id="5" name="Barra Esfuerzo financiero"/>
          <p:cNvSpPr/>
          <p:nvPr/>
        </p:nvSpPr>
        <p:spPr>
          <a:xfrm>
            <a:off x="2286000" y="1664208"/>
            <a:ext cx="2011680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Peso Esfuerzo financiero"/>
          <p:cNvSpPr txBox="1"/>
          <p:nvPr/>
        </p:nvSpPr>
        <p:spPr>
          <a:xfrm>
            <a:off x="4389120" y="16276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600" dirty="0"/>
          </a:p>
        </p:txBody>
      </p:sp>
      <p:sp>
        <p:nvSpPr>
          <p:cNvPr id="7" name="Factor Tipo de interés"/>
          <p:cNvSpPr txBox="1"/>
          <p:nvPr/>
        </p:nvSpPr>
        <p:spPr>
          <a:xfrm>
            <a:off x="457200" y="22402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interés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del riesgo</a:t>
            </a:r>
            <a:endParaRPr lang="en-US" sz="1400" dirty="0"/>
          </a:p>
        </p:txBody>
      </p:sp>
      <p:sp>
        <p:nvSpPr>
          <p:cNvPr id="8" name="Barra Tipo de interés"/>
          <p:cNvSpPr/>
          <p:nvPr/>
        </p:nvSpPr>
        <p:spPr>
          <a:xfrm>
            <a:off x="2286000" y="2350008"/>
            <a:ext cx="1436914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Peso Tipo de interés"/>
          <p:cNvSpPr txBox="1"/>
          <p:nvPr/>
        </p:nvSpPr>
        <p:spPr>
          <a:xfrm>
            <a:off x="3814354" y="23134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600" dirty="0"/>
          </a:p>
        </p:txBody>
      </p:sp>
      <p:sp>
        <p:nvSpPr>
          <p:cNvPr id="10" name="Factor Impago previo"/>
          <p:cNvSpPr txBox="1"/>
          <p:nvPr/>
        </p:nvSpPr>
        <p:spPr>
          <a:xfrm>
            <a:off x="457200" y="29260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Impago previo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en buró</a:t>
            </a:r>
            <a:endParaRPr lang="en-US" sz="1400" dirty="0"/>
          </a:p>
        </p:txBody>
      </p:sp>
      <p:sp>
        <p:nvSpPr>
          <p:cNvPr id="11" name="Barra Impago previo"/>
          <p:cNvSpPr/>
          <p:nvPr/>
        </p:nvSpPr>
        <p:spPr>
          <a:xfrm>
            <a:off x="2286000" y="3035808"/>
            <a:ext cx="1149531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Peso Impago previo"/>
          <p:cNvSpPr txBox="1"/>
          <p:nvPr/>
        </p:nvSpPr>
        <p:spPr>
          <a:xfrm>
            <a:off x="3526971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13" name="Factor Grado A-G"/>
          <p:cNvSpPr txBox="1"/>
          <p:nvPr/>
        </p:nvSpPr>
        <p:spPr>
          <a:xfrm>
            <a:off x="457200" y="361188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 A-G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calificación del préstamo</a:t>
            </a:r>
            <a:endParaRPr lang="en-US" sz="1400" dirty="0"/>
          </a:p>
        </p:txBody>
      </p:sp>
      <p:sp>
        <p:nvSpPr>
          <p:cNvPr id="14" name="Barra Grado A-G"/>
          <p:cNvSpPr/>
          <p:nvPr/>
        </p:nvSpPr>
        <p:spPr>
          <a:xfrm>
            <a:off x="2286000" y="3721608"/>
            <a:ext cx="1149531" cy="329184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Peso Grado A-G"/>
          <p:cNvSpPr txBox="1"/>
          <p:nvPr/>
        </p:nvSpPr>
        <p:spPr>
          <a:xfrm>
            <a:off x="3526971" y="36850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600" dirty="0"/>
          </a:p>
        </p:txBody>
      </p:sp>
      <p:sp>
        <p:nvSpPr>
          <p:cNvPr id="16" name="Matriz BAJO"/>
          <p:cNvSpPr/>
          <p:nvPr/>
        </p:nvSpPr>
        <p:spPr>
          <a:xfrm>
            <a:off x="4937760" y="118872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Semáforo BAJO"/>
          <p:cNvSpPr/>
          <p:nvPr/>
        </p:nvSpPr>
        <p:spPr>
          <a:xfrm>
            <a:off x="5120640" y="146304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Categoría BAJO"/>
          <p:cNvSpPr txBox="1"/>
          <p:nvPr/>
        </p:nvSpPr>
        <p:spPr>
          <a:xfrm>
            <a:off x="5669280" y="12984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</a:t>
            </a:r>
            <a:endParaRPr lang="en-US" sz="1500" dirty="0"/>
          </a:p>
        </p:txBody>
      </p:sp>
      <p:sp>
        <p:nvSpPr>
          <p:cNvPr id="19" name="Acción BAJO"/>
          <p:cNvSpPr txBox="1"/>
          <p:nvPr/>
        </p:nvSpPr>
        <p:spPr>
          <a:xfrm>
            <a:off x="5669280" y="161848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 amigable de pago</a:t>
            </a:r>
            <a:endParaRPr lang="en-US" sz="1200" dirty="0"/>
          </a:p>
        </p:txBody>
      </p:sp>
      <p:sp>
        <p:nvSpPr>
          <p:cNvPr id="20" name="Matriz MODERADO"/>
          <p:cNvSpPr/>
          <p:nvPr/>
        </p:nvSpPr>
        <p:spPr>
          <a:xfrm>
            <a:off x="4937760" y="224028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Semáforo MODERADO"/>
          <p:cNvSpPr/>
          <p:nvPr/>
        </p:nvSpPr>
        <p:spPr>
          <a:xfrm>
            <a:off x="5120640" y="251460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Categoría MODERADO"/>
          <p:cNvSpPr txBox="1"/>
          <p:nvPr/>
        </p:nvSpPr>
        <p:spPr>
          <a:xfrm>
            <a:off x="5669280" y="23500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30 - 65</a:t>
            </a:r>
            <a:endParaRPr lang="en-US" sz="1500" dirty="0"/>
          </a:p>
        </p:txBody>
      </p:sp>
      <p:sp>
        <p:nvSpPr>
          <p:cNvPr id="23" name="Acción MODERADO"/>
          <p:cNvSpPr txBox="1"/>
          <p:nvPr/>
        </p:nvSpPr>
        <p:spPr>
          <a:xfrm>
            <a:off x="5669280" y="267004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crédito + plan en 3 cuotas</a:t>
            </a:r>
            <a:endParaRPr lang="en-US" sz="1200" dirty="0"/>
          </a:p>
        </p:txBody>
      </p:sp>
      <p:sp>
        <p:nvSpPr>
          <p:cNvPr id="24" name="Matriz CRÍTICO"/>
          <p:cNvSpPr/>
          <p:nvPr/>
        </p:nvSpPr>
        <p:spPr>
          <a:xfrm>
            <a:off x="4937760" y="3291840"/>
            <a:ext cx="37490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emáforo CRÍTICO"/>
          <p:cNvSpPr/>
          <p:nvPr/>
        </p:nvSpPr>
        <p:spPr>
          <a:xfrm>
            <a:off x="5120640" y="3566160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6" name="Categoría CRÍTICO"/>
          <p:cNvSpPr txBox="1"/>
          <p:nvPr/>
        </p:nvSpPr>
        <p:spPr>
          <a:xfrm>
            <a:off x="5669280" y="3401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 </a:t>
            </a:r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65</a:t>
            </a:r>
            <a:endParaRPr lang="en-US" sz="1500" dirty="0"/>
          </a:p>
        </p:txBody>
      </p:sp>
      <p:sp>
        <p:nvSpPr>
          <p:cNvPr id="27" name="Acción CRÍTICO"/>
          <p:cNvSpPr txBox="1"/>
          <p:nvPr/>
        </p:nvSpPr>
        <p:spPr>
          <a:xfrm>
            <a:off x="5669280" y="3721608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Suspensión + reclamación legal · requiere autorización</a:t>
            </a:r>
            <a:endParaRPr lang="en-US" sz="1200" dirty="0"/>
          </a:p>
        </p:txBody>
      </p:sp>
      <p:sp>
        <p:nvSpPr>
          <p:cNvPr id="28" name="Principios skill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Determinista y auditable · no usa edad ni vivienda · loan_status solo para validar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score acierta: el impago crece con el riesgo</a:t>
            </a:r>
            <a:endParaRPr lang="en-US" sz="2800" dirty="0"/>
          </a:p>
        </p:txBody>
      </p:sp>
      <p:graphicFrame>
        <p:nvGraphicFramePr>
          <p:cNvPr id="3" name="Gráfico impago por categoría" descr=""/>
          <p:cNvGraphicFramePr/>
          <p:nvPr/>
        </p:nvGraphicFramePr>
        <p:xfrm>
          <a:off x="457200" y="1097280"/>
          <a:ext cx="49377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Dato préstamos CRÍTICOS (3,6 % de la cartera, 18,8 M$)"/>
          <p:cNvSpPr txBox="1"/>
          <p:nvPr/>
        </p:nvSpPr>
        <p:spPr>
          <a:xfrm>
            <a:off x="5760720" y="118872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1.161</a:t>
            </a:r>
            <a:endParaRPr lang="en-US" sz="2800" dirty="0"/>
          </a:p>
        </p:txBody>
      </p:sp>
      <p:sp>
        <p:nvSpPr>
          <p:cNvPr id="5" name="Texto dato préstamos CRÍTICOS (3,6 % de la cartera, 18,8 M$)"/>
          <p:cNvSpPr txBox="1"/>
          <p:nvPr/>
        </p:nvSpPr>
        <p:spPr>
          <a:xfrm>
            <a:off x="5760720" y="16916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préstamos CRÍTICOS (3,6 % de la cartera, 18,8 M$)</a:t>
            </a:r>
            <a:endParaRPr lang="en-US" sz="1300" dirty="0"/>
          </a:p>
        </p:txBody>
      </p:sp>
      <p:sp>
        <p:nvSpPr>
          <p:cNvPr id="6" name="Dato la tasa media de impago en CRÍTICO"/>
          <p:cNvSpPr txBox="1"/>
          <p:nvPr/>
        </p:nvSpPr>
        <p:spPr>
          <a:xfrm>
            <a:off x="5760720" y="22860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3,3×</a:t>
            </a:r>
            <a:endParaRPr lang="en-US" sz="2800" dirty="0"/>
          </a:p>
        </p:txBody>
      </p:sp>
      <p:sp>
        <p:nvSpPr>
          <p:cNvPr id="7" name="Texto dato la tasa media de impago en CRÍTICO"/>
          <p:cNvSpPr txBox="1"/>
          <p:nvPr/>
        </p:nvSpPr>
        <p:spPr>
          <a:xfrm>
            <a:off x="576072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tasa media de impago en CRÍTICO</a:t>
            </a:r>
            <a:endParaRPr lang="en-US" sz="1300" dirty="0"/>
          </a:p>
        </p:txBody>
      </p:sp>
      <p:sp>
        <p:nvSpPr>
          <p:cNvPr id="8" name="Dato de los impagos caen en MODERADO + CRÍTICO"/>
          <p:cNvSpPr txBox="1"/>
          <p:nvPr/>
        </p:nvSpPr>
        <p:spPr>
          <a:xfrm>
            <a:off x="5760720" y="3383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77 %</a:t>
            </a:r>
            <a:endParaRPr lang="en-US" sz="2800" dirty="0"/>
          </a:p>
        </p:txBody>
      </p:sp>
      <p:sp>
        <p:nvSpPr>
          <p:cNvPr id="9" name="Texto dato de los impagos caen en MODERADO + CRÍTICO"/>
          <p:cNvSpPr txBox="1"/>
          <p:nvPr/>
        </p:nvSpPr>
        <p:spPr>
          <a:xfrm>
            <a:off x="5760720" y="38862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impagos caen en MODERADO + CRÍTICO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agente en acción: los 20 de mayor importe</a:t>
            </a:r>
            <a:endParaRPr lang="en-US" sz="2800" dirty="0"/>
          </a:p>
        </p:txBody>
      </p:sp>
      <p:sp>
        <p:nvSpPr>
          <p:cNvPr id="3" name="Tarjeta pregunta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" name="Pregunta al agente"/>
          <p:cNvSpPr txBox="1"/>
          <p:nvPr/>
        </p:nvSpPr>
        <p:spPr>
          <a:xfrm>
            <a:off x="640080" y="10972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«Analiza el riesgo de impago de los 20 préstamos de mayor importe y propón acciones»</a:t>
            </a:r>
            <a:endParaRPr lang="en-US" sz="1500" dirty="0"/>
          </a:p>
        </p:txBody>
      </p:sp>
      <p:graphicFrame>
        <p:nvGraphicFramePr>
          <p:cNvPr id="8" name="Tabla resultad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20"/>
          <a:ext cx="48463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05840"/>
                <a:gridCol w="1188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Préstamos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Impagos reales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CRÍTICO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 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de 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280.000 $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de 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Paso 1"/>
          <p:cNvSpPr/>
          <p:nvPr/>
        </p:nvSpPr>
        <p:spPr>
          <a:xfrm>
            <a:off x="5669280" y="19110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Número paso 1"/>
          <p:cNvSpPr txBox="1"/>
          <p:nvPr/>
        </p:nvSpPr>
        <p:spPr>
          <a:xfrm>
            <a:off x="5669280" y="1911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o paso 1"/>
          <p:cNvSpPr txBox="1"/>
          <p:nvPr/>
        </p:nvSpPr>
        <p:spPr>
          <a:xfrm>
            <a:off x="6172200" y="18745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700.000 $ expuestos en los 20 préstamos</a:t>
            </a:r>
            <a:endParaRPr lang="en-US" sz="1300" dirty="0"/>
          </a:p>
        </p:txBody>
      </p:sp>
      <p:sp>
        <p:nvSpPr>
          <p:cNvPr id="9" name="Paso 2"/>
          <p:cNvSpPr/>
          <p:nvPr/>
        </p:nvSpPr>
        <p:spPr>
          <a:xfrm>
            <a:off x="5669280" y="253288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úmero paso 2"/>
          <p:cNvSpPr txBox="1"/>
          <p:nvPr/>
        </p:nvSpPr>
        <p:spPr>
          <a:xfrm>
            <a:off x="5669280" y="2532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o paso 2"/>
          <p:cNvSpPr txBox="1"/>
          <p:nvPr/>
        </p:nvSpPr>
        <p:spPr>
          <a:xfrm>
            <a:off x="6172200" y="2496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CRÍTICOS quedan pendientes de autorización humana</a:t>
            </a:r>
            <a:endParaRPr lang="en-US" sz="1300" dirty="0"/>
          </a:p>
        </p:txBody>
      </p:sp>
      <p:sp>
        <p:nvSpPr>
          <p:cNvPr id="12" name="Paso 3"/>
          <p:cNvSpPr/>
          <p:nvPr/>
        </p:nvSpPr>
        <p:spPr>
          <a:xfrm>
            <a:off x="5669280" y="31546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úmero paso 3"/>
          <p:cNvSpPr txBox="1"/>
          <p:nvPr/>
        </p:nvSpPr>
        <p:spPr>
          <a:xfrm>
            <a:off x="5669280" y="3154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o paso 3"/>
          <p:cNvSpPr txBox="1"/>
          <p:nvPr/>
        </p:nvSpPr>
        <p:spPr>
          <a:xfrm>
            <a:off x="6172200" y="311810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finalidad, Médica concentra más riesgo crítico</a:t>
            </a:r>
            <a:endParaRPr lang="en-US" sz="1300" dirty="0"/>
          </a:p>
        </p:txBody>
      </p:sp>
      <p:sp>
        <p:nvSpPr>
          <p:cNvPr id="15" name="Paso 4"/>
          <p:cNvSpPr/>
          <p:nvPr/>
        </p:nvSpPr>
        <p:spPr>
          <a:xfrm>
            <a:off x="5669280" y="37764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úmero paso 4"/>
          <p:cNvSpPr txBox="1"/>
          <p:nvPr/>
        </p:nvSpPr>
        <p:spPr>
          <a:xfrm>
            <a:off x="566928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o paso 4"/>
          <p:cNvSpPr txBox="1"/>
          <p:nvPr/>
        </p:nvSpPr>
        <p:spPr>
          <a:xfrm>
            <a:off x="6172200" y="3739896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web y el agente dan el mismo resultado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de 9 pruebas obligatorias aprobadas</a:t>
            </a:r>
            <a:endParaRPr lang="en-US" sz="2800" dirty="0"/>
          </a:p>
        </p:txBody>
      </p:sp>
      <p:sp>
        <p:nvSpPr>
          <p:cNvPr id="3" name="Prueba Agente"/>
          <p:cNvSpPr/>
          <p:nvPr/>
        </p:nvSpPr>
        <p:spPr>
          <a:xfrm>
            <a:off x="4572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o prueba Agente"/>
          <p:cNvSpPr txBox="1"/>
          <p:nvPr/>
        </p:nvSpPr>
        <p:spPr>
          <a:xfrm>
            <a:off x="5486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</a:t>
            </a:r>
            <a:endParaRPr lang="en-US" sz="1400" dirty="0"/>
          </a:p>
        </p:txBody>
      </p:sp>
      <p:sp>
        <p:nvSpPr>
          <p:cNvPr id="5" name="Prueba Skill"/>
          <p:cNvSpPr/>
          <p:nvPr/>
        </p:nvSpPr>
        <p:spPr>
          <a:xfrm>
            <a:off x="20574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o prueba Skill"/>
          <p:cNvSpPr txBox="1"/>
          <p:nvPr/>
        </p:nvSpPr>
        <p:spPr>
          <a:xfrm>
            <a:off x="21488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400" dirty="0"/>
          </a:p>
        </p:txBody>
      </p:sp>
      <p:sp>
        <p:nvSpPr>
          <p:cNvPr id="7" name="Prueba MCP"/>
          <p:cNvSpPr/>
          <p:nvPr/>
        </p:nvSpPr>
        <p:spPr>
          <a:xfrm>
            <a:off x="3657600" y="118872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o prueba MCP"/>
          <p:cNvSpPr txBox="1"/>
          <p:nvPr/>
        </p:nvSpPr>
        <p:spPr>
          <a:xfrm>
            <a:off x="3749040" y="118872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400" dirty="0"/>
          </a:p>
        </p:txBody>
      </p:sp>
      <p:sp>
        <p:nvSpPr>
          <p:cNvPr id="9" name="Prueba Base de datos"/>
          <p:cNvSpPr/>
          <p:nvPr/>
        </p:nvSpPr>
        <p:spPr>
          <a:xfrm>
            <a:off x="4572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o prueba Base de datos"/>
          <p:cNvSpPr txBox="1"/>
          <p:nvPr/>
        </p:nvSpPr>
        <p:spPr>
          <a:xfrm>
            <a:off x="5486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400" dirty="0"/>
          </a:p>
        </p:txBody>
      </p:sp>
      <p:sp>
        <p:nvSpPr>
          <p:cNvPr id="11" name="Prueba Backend"/>
          <p:cNvSpPr/>
          <p:nvPr/>
        </p:nvSpPr>
        <p:spPr>
          <a:xfrm>
            <a:off x="20574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o prueba Backend"/>
          <p:cNvSpPr txBox="1"/>
          <p:nvPr/>
        </p:nvSpPr>
        <p:spPr>
          <a:xfrm>
            <a:off x="21488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400" dirty="0"/>
          </a:p>
        </p:txBody>
      </p:sp>
      <p:sp>
        <p:nvSpPr>
          <p:cNvPr id="13" name="Prueba Frontend"/>
          <p:cNvSpPr/>
          <p:nvPr/>
        </p:nvSpPr>
        <p:spPr>
          <a:xfrm>
            <a:off x="3657600" y="205740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o prueba Frontend"/>
          <p:cNvSpPr txBox="1"/>
          <p:nvPr/>
        </p:nvSpPr>
        <p:spPr>
          <a:xfrm>
            <a:off x="3749040" y="20574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400" dirty="0"/>
          </a:p>
        </p:txBody>
      </p:sp>
      <p:sp>
        <p:nvSpPr>
          <p:cNvPr id="15" name="Prueba Flujo completo"/>
          <p:cNvSpPr/>
          <p:nvPr/>
        </p:nvSpPr>
        <p:spPr>
          <a:xfrm>
            <a:off x="4572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o prueba Flujo completo"/>
          <p:cNvSpPr txBox="1"/>
          <p:nvPr/>
        </p:nvSpPr>
        <p:spPr>
          <a:xfrm>
            <a:off x="5486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completo</a:t>
            </a:r>
            <a:endParaRPr lang="en-US" sz="1400" dirty="0"/>
          </a:p>
        </p:txBody>
      </p:sp>
      <p:sp>
        <p:nvSpPr>
          <p:cNvPr id="17" name="Prueba Errores"/>
          <p:cNvSpPr/>
          <p:nvPr/>
        </p:nvSpPr>
        <p:spPr>
          <a:xfrm>
            <a:off x="20574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o prueba Errores"/>
          <p:cNvSpPr txBox="1"/>
          <p:nvPr/>
        </p:nvSpPr>
        <p:spPr>
          <a:xfrm>
            <a:off x="21488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endParaRPr lang="en-US" sz="1400" dirty="0"/>
          </a:p>
        </p:txBody>
      </p:sp>
      <p:sp>
        <p:nvSpPr>
          <p:cNvPr id="19" name="Prueba Validación BI"/>
          <p:cNvSpPr/>
          <p:nvPr/>
        </p:nvSpPr>
        <p:spPr>
          <a:xfrm>
            <a:off x="3657600" y="2926080"/>
            <a:ext cx="14630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o prueba Validación BI"/>
          <p:cNvSpPr txBox="1"/>
          <p:nvPr/>
        </p:nvSpPr>
        <p:spPr>
          <a:xfrm>
            <a:off x="3749040" y="292608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</a:t>
            </a:r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BI</a:t>
            </a:r>
            <a:endParaRPr lang="en-US" sz="1400" dirty="0"/>
          </a:p>
        </p:txBody>
      </p:sp>
      <p:sp>
        <p:nvSpPr>
          <p:cNvPr id="21" name="Titular errores"/>
          <p:cNvSpPr txBox="1"/>
          <p:nvPr/>
        </p:nvSpPr>
        <p:spPr>
          <a:xfrm>
            <a:off x="5440680" y="11887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reales y cómo se resolvieron</a:t>
            </a:r>
            <a:endParaRPr lang="en-US" sz="1500" dirty="0"/>
          </a:p>
        </p:txBody>
      </p:sp>
      <p:sp>
        <p:nvSpPr>
          <p:cNvPr id="22" name="Lista errores"/>
          <p:cNvSpPr txBox="1"/>
          <p:nvPr/>
        </p:nvSpPr>
        <p:spPr>
          <a:xfrm>
            <a:off x="5440680" y="160020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usaba tablas que no existían → skill rediseñada sobre los datos reales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 de la API de Supabase inválida → corregida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de MCP 2.x cambió nombres → código adaptado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«borra los préstamos» → el agente se niega; BD en solo lectura</a:t>
            </a:r>
            <a:endParaRPr lang="en-US" sz="1300" dirty="0"/>
          </a:p>
        </p:txBody>
      </p:sp>
      <p:sp>
        <p:nvSpPr>
          <p:cNvPr id="23" name="Resumen automatizadas"/>
          <p:cNvSpPr txBox="1"/>
          <p:nvPr/>
        </p:nvSpPr>
        <p:spPr>
          <a:xfrm>
            <a:off x="457200" y="3931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pruebas automáticas · cifras cruzadas entre SQL directo y Python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Transparencia: lo que aún no resuelve</a:t>
            </a:r>
            <a:endParaRPr lang="en-US" sz="2800" dirty="0"/>
          </a:p>
        </p:txBody>
      </p:sp>
      <p:sp>
        <p:nvSpPr>
          <p:cNvPr id="3" name="Límite Crédito al consumo, no B2B"/>
          <p:cNvSpPr/>
          <p:nvPr/>
        </p:nvSpPr>
        <p:spPr>
          <a:xfrm>
            <a:off x="457200" y="1188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itular límite Crédito al consumo, no B2B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al consumo, no B2B</a:t>
            </a:r>
            <a:endParaRPr lang="en-US" sz="1600" dirty="0"/>
          </a:p>
        </p:txBody>
      </p:sp>
      <p:sp>
        <p:nvSpPr>
          <p:cNvPr id="5" name="Texto límite Crédito al consumo, no B2B"/>
          <p:cNvSpPr txBox="1"/>
          <p:nvPr/>
        </p:nvSpPr>
        <p:spPr>
          <a:xfrm>
            <a:off x="685800" y="1719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lógica sirve para facturas, pero los pesos habría que recalibrarlos</a:t>
            </a:r>
            <a:endParaRPr lang="en-US" sz="1300" dirty="0"/>
          </a:p>
        </p:txBody>
      </p:sp>
      <p:sp>
        <p:nvSpPr>
          <p:cNvPr id="6" name="Límite Pesos de criterio experto"/>
          <p:cNvSpPr/>
          <p:nvPr/>
        </p:nvSpPr>
        <p:spPr>
          <a:xfrm>
            <a:off x="4663440" y="118872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itular límite Pesos de criterio experto"/>
          <p:cNvSpPr txBox="1"/>
          <p:nvPr/>
        </p:nvSpPr>
        <p:spPr>
          <a:xfrm>
            <a:off x="4892040" y="13258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de criterio experto</a:t>
            </a:r>
            <a:endParaRPr lang="en-US" sz="1600" dirty="0"/>
          </a:p>
        </p:txBody>
      </p:sp>
      <p:sp>
        <p:nvSpPr>
          <p:cNvPr id="8" name="Texto límite Pesos de criterio experto"/>
          <p:cNvSpPr txBox="1"/>
          <p:nvPr/>
        </p:nvSpPr>
        <p:spPr>
          <a:xfrm>
            <a:off x="4892040" y="171907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Ordenan bien el riesgo (AUC 0,793), pero no están entrenados</a:t>
            </a:r>
            <a:endParaRPr lang="en-US" sz="1300" dirty="0"/>
          </a:p>
        </p:txBody>
      </p:sp>
      <p:sp>
        <p:nvSpPr>
          <p:cNvPr id="9" name="Límite CRÍTICO es preciso, no exhaustivo"/>
          <p:cNvSpPr/>
          <p:nvPr/>
        </p:nvSpPr>
        <p:spPr>
          <a:xfrm>
            <a:off x="45720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itular límite CRÍTICO es preciso, no exhaustivo"/>
          <p:cNvSpPr txBox="1"/>
          <p:nvPr/>
        </p:nvSpPr>
        <p:spPr>
          <a:xfrm>
            <a:off x="685800" y="2743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es preciso, no exhaustivo</a:t>
            </a:r>
            <a:endParaRPr lang="en-US" sz="1600" dirty="0"/>
          </a:p>
        </p:txBody>
      </p:sp>
      <p:sp>
        <p:nvSpPr>
          <p:cNvPr id="11" name="Texto límite CRÍTICO es preciso, no exhaustivo"/>
          <p:cNvSpPr txBox="1"/>
          <p:nvPr/>
        </p:nvSpPr>
        <p:spPr>
          <a:xfrm>
            <a:off x="685800" y="31363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el 11,8 % de los impagos; el 65 % cae en MODERADO</a:t>
            </a:r>
            <a:endParaRPr lang="en-US" sz="1300" dirty="0"/>
          </a:p>
        </p:txBody>
      </p:sp>
      <p:sp>
        <p:nvSpPr>
          <p:cNvPr id="12" name="Límite Datos sin fechas"/>
          <p:cNvSpPr/>
          <p:nvPr/>
        </p:nvSpPr>
        <p:spPr>
          <a:xfrm>
            <a:off x="4663440" y="2606040"/>
            <a:ext cx="40233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itular límite Datos sin fechas"/>
          <p:cNvSpPr txBox="1"/>
          <p:nvPr/>
        </p:nvSpPr>
        <p:spPr>
          <a:xfrm>
            <a:off x="4892040" y="27432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sin fechas</a:t>
            </a:r>
            <a:endParaRPr lang="en-US" sz="1600" dirty="0"/>
          </a:p>
        </p:txBody>
      </p:sp>
      <p:sp>
        <p:nvSpPr>
          <p:cNvPr id="14" name="Texto límite Datos sin fechas"/>
          <p:cNvSpPr txBox="1"/>
          <p:nvPr/>
        </p:nvSpPr>
        <p:spPr>
          <a:xfrm>
            <a:off x="4892040" y="3136392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medir DSO ni evolución temporal</a:t>
            </a:r>
            <a:endParaRPr lang="en-US" sz="1300" dirty="0"/>
          </a:p>
        </p:txBody>
      </p:sp>
      <p:sp>
        <p:nvSpPr>
          <p:cNvPr id="15" name="Siguiente paso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calibrar los pesos con regresión logística y compararla con la fórmula 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aprendimos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148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cada cifra contra los datos y cuestionar a la IA cuando proponía algo que no existía</a:t>
            </a:r>
            <a:endParaRPr lang="en-US" sz="2000" dirty="0"/>
          </a:p>
        </p:txBody>
      </p:sp>
      <p:sp>
        <p:nvSpPr>
          <p:cNvPr id="4" name="Aprendizaje Datos primero"/>
          <p:cNvSpPr txBox="1"/>
          <p:nvPr/>
        </p:nvSpPr>
        <p:spPr>
          <a:xfrm>
            <a:off x="5486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primero</a:t>
            </a:r>
            <a:endParaRPr lang="en-US" sz="1700" dirty="0"/>
          </a:p>
        </p:txBody>
      </p:sp>
      <p:sp>
        <p:nvSpPr>
          <p:cNvPr id="5" name="Texto aprendizaje Datos primero"/>
          <p:cNvSpPr txBox="1"/>
          <p:nvPr/>
        </p:nvSpPr>
        <p:spPr>
          <a:xfrm>
            <a:off x="5486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sobre lo que hay en la base de datos, no sobre lo que imaginamos</a:t>
            </a:r>
            <a:endParaRPr lang="en-US" sz="1300" dirty="0"/>
          </a:p>
        </p:txBody>
      </p:sp>
      <p:sp>
        <p:nvSpPr>
          <p:cNvPr id="6" name="Aprendizaje La IA se revisa"/>
          <p:cNvSpPr txBox="1"/>
          <p:nvPr/>
        </p:nvSpPr>
        <p:spPr>
          <a:xfrm>
            <a:off x="32918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se revisa</a:t>
            </a:r>
            <a:endParaRPr lang="en-US" sz="1700" dirty="0"/>
          </a:p>
        </p:txBody>
      </p:sp>
      <p:sp>
        <p:nvSpPr>
          <p:cNvPr id="7" name="Texto aprendizaje La IA se revisa"/>
          <p:cNvSpPr txBox="1"/>
          <p:nvPr/>
        </p:nvSpPr>
        <p:spPr>
          <a:xfrm>
            <a:off x="32918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Contrastamos sus resultados con SQL directo y no le dejamos aprobarse permisos</a:t>
            </a:r>
            <a:endParaRPr lang="en-US" sz="1300" dirty="0"/>
          </a:p>
        </p:txBody>
      </p:sp>
      <p:sp>
        <p:nvSpPr>
          <p:cNvPr id="8" name="Aprendizaje Humano al mando"/>
          <p:cNvSpPr txBox="1"/>
          <p:nvPr/>
        </p:nvSpPr>
        <p:spPr>
          <a:xfrm>
            <a:off x="6035040" y="3383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 al mando</a:t>
            </a:r>
            <a:endParaRPr lang="en-US" sz="1700" dirty="0"/>
          </a:p>
        </p:txBody>
      </p:sp>
      <p:sp>
        <p:nvSpPr>
          <p:cNvPr id="9" name="Texto aprendizaje Humano al mando"/>
          <p:cNvSpPr txBox="1"/>
          <p:nvPr/>
        </p:nvSpPr>
        <p:spPr>
          <a:xfrm>
            <a:off x="6035040" y="374904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decisiones duras de cobro siempre las autoriza una persona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ditGuard">
  <a:themeElements>
    <a:clrScheme name="CreditGuard">
      <a:dk1>
        <a:srgbClr val="16212E"/>
      </a:dk1>
      <a:lt1>
        <a:srgbClr val="FFFFFF"/>
      </a:lt1>
      <a:dk2>
        <a:srgbClr val="2B3B4F"/>
      </a:dk2>
      <a:lt2>
        <a:srgbClr val="EEF2F6"/>
      </a:lt2>
      <a:accent1>
        <a:srgbClr val="0E7C72"/>
      </a:accent1>
      <a:accent2>
        <a:srgbClr val="2F7D4F"/>
      </a:accent2>
      <a:accent3>
        <a:srgbClr val="C7820A"/>
      </a:accent3>
      <a:accent4>
        <a:srgbClr val="B42318"/>
      </a:accent4>
      <a:accent5>
        <a:srgbClr val="5B6B7D"/>
      </a:accent5>
      <a:accent6>
        <a:srgbClr val="D7EEEB"/>
      </a:accent6>
      <a:hlink>
        <a:srgbClr val="0E7C72"/>
      </a:hlink>
      <a:folHlink>
        <a:srgbClr val="2B3B4F"/>
      </a:folHlink>
    </a:clrScheme>
    <a:fontScheme name="Credit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CreditGuard AI</dc:title>
  <dc:subject>PptxGenJS Presentation</dc:subject>
  <dc:creator>Equipo CreditGuard AI</dc:creator>
  <cp:lastModifiedBy>Equipo CreditGuard AI</cp:lastModifiedBy>
  <cp:revision>1</cp:revision>
  <dcterms:created xsi:type="dcterms:W3CDTF">2026-10-29T01:46:43Z</dcterms:created>
  <dcterms:modified xsi:type="dcterms:W3CDTF">2026-10-29T01:46:43Z</dcterms:modified>
</cp:coreProperties>
</file>