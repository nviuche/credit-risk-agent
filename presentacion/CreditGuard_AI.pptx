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dc50e27-08b8-db70-17d3-847b7965cb6c}">
          <p14:sldIdLst>
            <p14:sldId id="256"/>
          </p14:sldIdLst>
        </p14:section>
        <p14:section name="1. Problema y oportunidad" id="{85131cc5-8d92-ee1d-31d7-b9bd53bbdbed}">
          <p14:sldIdLst>
            <p14:sldId id="257"/>
          </p14:sldIdLst>
        </p14:section>
        <p14:section name="2. Arquitectura, Skills, MCP y datos" id="{65875220-a790-4979-7b30-5b3852b2a692}">
          <p14:sldIdLst>
            <p14:sldId id="258"/>
            <p14:sldId id="259"/>
            <p14:sldId id="260"/>
            <p14:sldId id="261"/>
          </p14:sldIdLst>
        </p14:section>
        <p14:section name="3. Resultados" id="{2994514a-5631-4617-b27a-ca1020d36de1}">
          <p14:sldIdLst>
            <p14:sldId id="262"/>
          </p14:sldIdLst>
        </p14:section>
        <p14:section name="4. Pruebas y errores" id="{dc65a56a-4129-a4f6-3850-40f86c24b725}">
          <p14:sldIdLst>
            <p14:sldId id="263"/>
            <p14:sldId id="264"/>
          </p14:sldIdLst>
        </p14:section>
        <p14:section name="5. Reflexión" id="{624bfa5f-5e2c-3c8e-71b6-97e08cc19a1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3B4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3B4F"/>
                </a:solidFill>
                <a:latin typeface="+mn-lt"/>
              </a:rPr>
              <a:t>Tasa de impago real por categoría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BAJO · 8,2 %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 · 39,8 %</c:v>
                </c:pt>
              </c:strCache>
            </c:strRef>
          </c:tx>
          <c:spPr>
            <a:solidFill>
              <a:srgbClr val="C782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39.8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CRÍTICO · 72,1 %</c:v>
                </c:pt>
              </c:strCache>
            </c:strRef>
          </c:tx>
          <c:spPr>
            <a:solidFill>
              <a:srgbClr val="B423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3B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Hackathon BI agéntico INESDI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CreditGuard AI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de BI que detecta el riesgo de impago antes de que ocurra y propone qué hacer con cada préstamo</a:t>
            </a:r>
            <a:endParaRPr lang="en-US" sz="2000" dirty="0"/>
          </a:p>
        </p:txBody>
      </p:sp>
      <p:sp>
        <p:nvSpPr>
          <p:cNvPr id="4" name="Punto impago real en BAJO"/>
          <p:cNvSpPr/>
          <p:nvPr/>
        </p:nvSpPr>
        <p:spPr>
          <a:xfrm>
            <a:off x="548640" y="3685032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Cifra impago real en BAJO"/>
          <p:cNvSpPr txBox="1"/>
          <p:nvPr/>
        </p:nvSpPr>
        <p:spPr>
          <a:xfrm>
            <a:off x="80467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8,2 %</a:t>
            </a:r>
            <a:endParaRPr lang="en-US" sz="2800" dirty="0"/>
          </a:p>
        </p:txBody>
      </p:sp>
      <p:sp>
        <p:nvSpPr>
          <p:cNvPr id="6" name="Etiqueta impago real en BAJO"/>
          <p:cNvSpPr txBox="1"/>
          <p:nvPr/>
        </p:nvSpPr>
        <p:spPr>
          <a:xfrm>
            <a:off x="80467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BAJO</a:t>
            </a:r>
            <a:endParaRPr lang="en-US" sz="1200" dirty="0"/>
          </a:p>
        </p:txBody>
      </p:sp>
      <p:sp>
        <p:nvSpPr>
          <p:cNvPr id="7" name="Punto impago real en CRÍTICO"/>
          <p:cNvSpPr/>
          <p:nvPr/>
        </p:nvSpPr>
        <p:spPr>
          <a:xfrm>
            <a:off x="2926080" y="3685032"/>
            <a:ext cx="146304" cy="14630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Cifra impago real en CRÍTICO"/>
          <p:cNvSpPr txBox="1"/>
          <p:nvPr/>
        </p:nvSpPr>
        <p:spPr>
          <a:xfrm>
            <a:off x="318211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72,1 %</a:t>
            </a:r>
            <a:endParaRPr lang="en-US" sz="2800" dirty="0"/>
          </a:p>
        </p:txBody>
      </p:sp>
      <p:sp>
        <p:nvSpPr>
          <p:cNvPr id="9" name="Etiqueta impago real en CRÍTICO"/>
          <p:cNvSpPr txBox="1"/>
          <p:nvPr/>
        </p:nvSpPr>
        <p:spPr>
          <a:xfrm>
            <a:off x="318211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CRÍTICO</a:t>
            </a:r>
            <a:endParaRPr lang="en-US" sz="1200" dirty="0"/>
          </a:p>
        </p:txBody>
      </p:sp>
      <p:sp>
        <p:nvSpPr>
          <p:cNvPr id="10" name="Equipo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Mario Brochero López · Sofía Montero Jara · Santiago Nicolás Viuche Pinilla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cobro llega tarde: se actúa tras el impago</a:t>
            </a:r>
            <a:endParaRPr lang="en-US" sz="2800" dirty="0"/>
          </a:p>
        </p:txBody>
      </p:sp>
      <p:sp>
        <p:nvSpPr>
          <p:cNvPr id="3" name="Icono Hoy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Número Hoy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itular Hoy"/>
          <p:cNvSpPr txBox="1"/>
          <p:nvPr/>
        </p:nvSpPr>
        <p:spPr>
          <a:xfrm>
            <a:off x="105156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800" dirty="0"/>
          </a:p>
        </p:txBody>
      </p:sp>
      <p:sp>
        <p:nvSpPr>
          <p:cNvPr id="6" name="Texto Hoy"/>
          <p:cNvSpPr txBox="1"/>
          <p:nvPr/>
        </p:nvSpPr>
        <p:spPr>
          <a:xfrm>
            <a:off x="1051560" y="15361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 y reactiva de la cartera; el esfuerzo se reparte igual entre préstamos de riesgo muy distinto</a:t>
            </a:r>
            <a:endParaRPr lang="en-US" sz="1400" dirty="0"/>
          </a:p>
        </p:txBody>
      </p:sp>
      <p:sp>
        <p:nvSpPr>
          <p:cNvPr id="7" name="Icono Mercado"/>
          <p:cNvSpPr/>
          <p:nvPr/>
        </p:nvSpPr>
        <p:spPr>
          <a:xfrm>
            <a:off x="457200" y="233172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Número Mercado"/>
          <p:cNvSpPr txBox="1"/>
          <p:nvPr/>
        </p:nvSpPr>
        <p:spPr>
          <a:xfrm>
            <a:off x="4572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itular Mercado"/>
          <p:cNvSpPr txBox="1"/>
          <p:nvPr/>
        </p:nvSpPr>
        <p:spPr>
          <a:xfrm>
            <a:off x="105156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800" dirty="0"/>
          </a:p>
        </p:txBody>
      </p:sp>
      <p:sp>
        <p:nvSpPr>
          <p:cNvPr id="10" name="Texto Mercado"/>
          <p:cNvSpPr txBox="1"/>
          <p:nvPr/>
        </p:nvSpPr>
        <p:spPr>
          <a:xfrm>
            <a:off x="1051560" y="26334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con informes estáticos, automatización de cobros por reglas simples y scoring externo que no prescribe acciones</a:t>
            </a:r>
            <a:endParaRPr lang="en-US" sz="1400" dirty="0"/>
          </a:p>
        </p:txBody>
      </p:sp>
      <p:sp>
        <p:nvSpPr>
          <p:cNvPr id="11" name="Icono Oportunidad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úmero Oportunidad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itular Oportunidad"/>
          <p:cNvSpPr txBox="1"/>
          <p:nvPr/>
        </p:nvSpPr>
        <p:spPr>
          <a:xfrm>
            <a:off x="105156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1800" dirty="0"/>
          </a:p>
        </p:txBody>
      </p:sp>
      <p:sp>
        <p:nvSpPr>
          <p:cNvPr id="14" name="Texto Oportunidad"/>
          <p:cNvSpPr txBox="1"/>
          <p:nvPr/>
        </p:nvSpPr>
        <p:spPr>
          <a:xfrm>
            <a:off x="105156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consulta los datos, puntúa el riesgo de forma explicable y propone la acción, con control humano</a:t>
            </a:r>
            <a:endParaRPr lang="en-US" sz="1400" dirty="0"/>
          </a:p>
        </p:txBody>
      </p:sp>
      <p:sp>
        <p:nvSpPr>
          <p:cNvPr id="15" name="Tarjeta problemas"/>
          <p:cNvSpPr/>
          <p:nvPr/>
        </p:nvSpPr>
        <p:spPr>
          <a:xfrm>
            <a:off x="539496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itular problemas"/>
          <p:cNvSpPr txBox="1"/>
          <p:nvPr/>
        </p:nvSpPr>
        <p:spPr>
          <a:xfrm>
            <a:off x="562356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problemas de BI evaluados</a:t>
            </a:r>
            <a:endParaRPr lang="en-US" sz="1600" dirty="0"/>
          </a:p>
        </p:txBody>
      </p:sp>
      <p:sp>
        <p:nvSpPr>
          <p:cNvPr id="17" name="Problema 1"/>
          <p:cNvSpPr txBox="1"/>
          <p:nvPr/>
        </p:nvSpPr>
        <p:spPr>
          <a:xfrm>
            <a:off x="5623560" y="1783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impago en cartera de crédito</a:t>
            </a:r>
            <a:endParaRPr lang="en-US" sz="1400" dirty="0"/>
          </a:p>
        </p:txBody>
      </p:sp>
      <p:sp>
        <p:nvSpPr>
          <p:cNvPr id="18" name="Problema 2"/>
          <p:cNvSpPr txBox="1"/>
          <p:nvPr/>
        </p:nvSpPr>
        <p:spPr>
          <a:xfrm>
            <a:off x="5623560" y="21671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en SaaS B2B</a:t>
            </a:r>
            <a:endParaRPr lang="en-US" sz="1400" dirty="0"/>
          </a:p>
        </p:txBody>
      </p:sp>
      <p:sp>
        <p:nvSpPr>
          <p:cNvPr id="19" name="Problema 3"/>
          <p:cNvSpPr txBox="1"/>
          <p:nvPr/>
        </p:nvSpPr>
        <p:spPr>
          <a:xfrm>
            <a:off x="5623560" y="25511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Retraso de cobro B2B (DSO)</a:t>
            </a:r>
            <a:endParaRPr lang="en-US" sz="1400" dirty="0"/>
          </a:p>
        </p:txBody>
      </p:sp>
      <p:sp>
        <p:nvSpPr>
          <p:cNvPr id="20" name="Problema 4"/>
          <p:cNvSpPr txBox="1"/>
          <p:nvPr/>
        </p:nvSpPr>
        <p:spPr>
          <a:xfrm>
            <a:off x="5623560" y="29352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 de demanda retail</a:t>
            </a:r>
            <a:endParaRPr lang="en-US" sz="1400" dirty="0"/>
          </a:p>
        </p:txBody>
      </p:sp>
      <p:sp>
        <p:nvSpPr>
          <p:cNvPr id="21" name="Problema 5"/>
          <p:cNvSpPr txBox="1"/>
          <p:nvPr/>
        </p:nvSpPr>
        <p:spPr>
          <a:xfrm>
            <a:off x="5623560" y="3319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en pagos</a:t>
            </a:r>
            <a:endParaRPr lang="en-US" sz="1400" dirty="0"/>
          </a:p>
        </p:txBody>
      </p:sp>
      <p:sp>
        <p:nvSpPr>
          <p:cNvPr id="22" name="Motivo elección"/>
          <p:cNvSpPr txBox="1"/>
          <p:nvPr/>
        </p:nvSpPr>
        <p:spPr>
          <a:xfrm>
            <a:off x="562356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Elegido: tiene datos reales con el resultado conocido, así que podemos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reales: 32.581 préstamos con su resultado</a:t>
            </a:r>
            <a:endParaRPr lang="en-US" sz="2800" dirty="0"/>
          </a:p>
        </p:txBody>
      </p:sp>
      <p:sp>
        <p:nvSpPr>
          <p:cNvPr id="3" name="KPI préstamos reales (Kaggle, CC0)"/>
          <p:cNvSpPr/>
          <p:nvPr/>
        </p:nvSpPr>
        <p:spPr>
          <a:xfrm>
            <a:off x="45720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Valor préstamos reales (Kaggle, CC0)"/>
          <p:cNvSpPr txBox="1"/>
          <p:nvPr/>
        </p:nvSpPr>
        <p:spPr>
          <a:xfrm>
            <a:off x="64008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32.581</a:t>
            </a:r>
            <a:endParaRPr lang="en-US" sz="3000" dirty="0"/>
          </a:p>
        </p:txBody>
      </p:sp>
      <p:sp>
        <p:nvSpPr>
          <p:cNvPr id="5" name="Texto préstamos reales (Kaggle, CC0)"/>
          <p:cNvSpPr txBox="1"/>
          <p:nvPr/>
        </p:nvSpPr>
        <p:spPr>
          <a:xfrm>
            <a:off x="64008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reales (Kaggle, CC0)</a:t>
            </a:r>
            <a:endParaRPr lang="en-US" sz="1300" dirty="0"/>
          </a:p>
        </p:txBody>
      </p:sp>
      <p:sp>
        <p:nvSpPr>
          <p:cNvPr id="6" name="KPI importe total de la cartera"/>
          <p:cNvSpPr/>
          <p:nvPr/>
        </p:nvSpPr>
        <p:spPr>
          <a:xfrm>
            <a:off x="256032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Valor importe total de la cartera"/>
          <p:cNvSpPr txBox="1"/>
          <p:nvPr/>
        </p:nvSpPr>
        <p:spPr>
          <a:xfrm>
            <a:off x="274320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312,4 M$</a:t>
            </a:r>
            <a:endParaRPr lang="en-US" sz="3000" dirty="0"/>
          </a:p>
        </p:txBody>
      </p:sp>
      <p:sp>
        <p:nvSpPr>
          <p:cNvPr id="8" name="Texto importe total de la cartera"/>
          <p:cNvSpPr txBox="1"/>
          <p:nvPr/>
        </p:nvSpPr>
        <p:spPr>
          <a:xfrm>
            <a:off x="274320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total de la cartera</a:t>
            </a:r>
            <a:endParaRPr lang="en-US" sz="1300" dirty="0"/>
          </a:p>
        </p:txBody>
      </p:sp>
      <p:sp>
        <p:nvSpPr>
          <p:cNvPr id="9" name="KPI tasa de impago global"/>
          <p:cNvSpPr/>
          <p:nvPr/>
        </p:nvSpPr>
        <p:spPr>
          <a:xfrm>
            <a:off x="466344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or tasa de impago global"/>
          <p:cNvSpPr txBox="1"/>
          <p:nvPr/>
        </p:nvSpPr>
        <p:spPr>
          <a:xfrm>
            <a:off x="484632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21,82 %</a:t>
            </a:r>
            <a:endParaRPr lang="en-US" sz="3000" dirty="0"/>
          </a:p>
        </p:txBody>
      </p:sp>
      <p:sp>
        <p:nvSpPr>
          <p:cNvPr id="11" name="Texto tasa de impago global"/>
          <p:cNvSpPr txBox="1"/>
          <p:nvPr/>
        </p:nvSpPr>
        <p:spPr>
          <a:xfrm>
            <a:off x="484632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impago global</a:t>
            </a:r>
            <a:endParaRPr lang="en-US" sz="1300" dirty="0"/>
          </a:p>
        </p:txBody>
      </p:sp>
      <p:sp>
        <p:nvSpPr>
          <p:cNvPr id="12" name="KPI AUC del score frente al impago real"/>
          <p:cNvSpPr/>
          <p:nvPr/>
        </p:nvSpPr>
        <p:spPr>
          <a:xfrm>
            <a:off x="676656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alor AUC del score frente al impago real"/>
          <p:cNvSpPr txBox="1"/>
          <p:nvPr/>
        </p:nvSpPr>
        <p:spPr>
          <a:xfrm>
            <a:off x="694944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0,793</a:t>
            </a:r>
            <a:endParaRPr lang="en-US" sz="3000" dirty="0"/>
          </a:p>
        </p:txBody>
      </p:sp>
      <p:sp>
        <p:nvSpPr>
          <p:cNvPr id="14" name="Texto AUC del score frente al impago real"/>
          <p:cNvSpPr txBox="1"/>
          <p:nvPr/>
        </p:nvSpPr>
        <p:spPr>
          <a:xfrm>
            <a:off x="694944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del score frente al impago real</a:t>
            </a:r>
            <a:endParaRPr lang="en-US" sz="1300" dirty="0"/>
          </a:p>
        </p:txBody>
      </p:sp>
      <p:sp>
        <p:nvSpPr>
          <p:cNvPr id="15" name="Notas de datos"/>
          <p:cNvSpPr txBox="1"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tabla public.credit_risk, 13 columnas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documentada: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9,6 % sin tipo de interés (se imputa y se avisa), 7 edades atípicas, 165 duplicados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datos personales identificables; el score no usa edad ni vivienda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agente, dos MCP y una sola lógica de negocio</a:t>
            </a:r>
            <a:endParaRPr lang="en-US" sz="2800" dirty="0"/>
          </a:p>
        </p:txBody>
      </p:sp>
      <p:sp>
        <p:nvSpPr>
          <p:cNvPr id="3" name="Usuario"/>
          <p:cNvSpPr/>
          <p:nvPr/>
        </p:nvSpPr>
        <p:spPr>
          <a:xfrm>
            <a:off x="45720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 Usuario"/>
          <p:cNvSpPr txBox="1"/>
          <p:nvPr/>
        </p:nvSpPr>
        <p:spPr>
          <a:xfrm>
            <a:off x="54864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o web Streamlit</a:t>
            </a:r>
            <a:endParaRPr lang="en-US" sz="1400" dirty="0"/>
          </a:p>
        </p:txBody>
      </p:sp>
      <p:sp>
        <p:nvSpPr>
          <p:cNvPr id="5" name="Agente"/>
          <p:cNvSpPr/>
          <p:nvPr/>
        </p:nvSpPr>
        <p:spPr>
          <a:xfrm>
            <a:off x="242316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Agente"/>
          <p:cNvSpPr txBox="1"/>
          <p:nvPr/>
        </p:nvSpPr>
        <p:spPr>
          <a:xfrm>
            <a:off x="251460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CreditGuard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400" dirty="0"/>
          </a:p>
        </p:txBody>
      </p:sp>
      <p:sp>
        <p:nvSpPr>
          <p:cNvPr id="7" name="MCP Supabase"/>
          <p:cNvSpPr/>
          <p:nvPr/>
        </p:nvSpPr>
        <p:spPr>
          <a:xfrm>
            <a:off x="4434840" y="11430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MCP Supabase"/>
          <p:cNvSpPr txBox="1"/>
          <p:nvPr/>
        </p:nvSpPr>
        <p:spPr>
          <a:xfrm>
            <a:off x="4526280" y="1143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execute_sql · solo lectura</a:t>
            </a:r>
            <a:endParaRPr lang="en-US" sz="1400" dirty="0"/>
          </a:p>
        </p:txBody>
      </p:sp>
      <p:sp>
        <p:nvSpPr>
          <p:cNvPr id="9" name="MCP propio"/>
          <p:cNvSpPr/>
          <p:nvPr/>
        </p:nvSpPr>
        <p:spPr>
          <a:xfrm>
            <a:off x="4434840" y="20574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o MCP propio"/>
          <p:cNvSpPr txBox="1"/>
          <p:nvPr/>
        </p:nvSpPr>
        <p:spPr>
          <a:xfrm>
            <a:off x="4526280" y="20574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credit-risk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servidor</a:t>
            </a:r>
            <a:endParaRPr lang="en-US" sz="1400" dirty="0"/>
          </a:p>
        </p:txBody>
      </p:sp>
      <p:sp>
        <p:nvSpPr>
          <p:cNvPr id="11" name="Backend"/>
          <p:cNvSpPr/>
          <p:nvPr/>
        </p:nvSpPr>
        <p:spPr>
          <a:xfrm>
            <a:off x="443484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o Backend"/>
          <p:cNvSpPr txBox="1"/>
          <p:nvPr/>
        </p:nvSpPr>
        <p:spPr>
          <a:xfrm>
            <a:off x="4526280" y="29718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servicio.py · credit_risk.py</a:t>
            </a:r>
            <a:endParaRPr lang="en-US" sz="1400" dirty="0"/>
          </a:p>
        </p:txBody>
      </p:sp>
      <p:sp>
        <p:nvSpPr>
          <p:cNvPr id="13" name="BD"/>
          <p:cNvSpPr/>
          <p:nvPr/>
        </p:nvSpPr>
        <p:spPr>
          <a:xfrm>
            <a:off x="6766560" y="11430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BD"/>
          <p:cNvSpPr txBox="1"/>
          <p:nvPr/>
        </p:nvSpPr>
        <p:spPr>
          <a:xfrm>
            <a:off x="6858000" y="1143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32.581 préstamos</a:t>
            </a:r>
            <a:endParaRPr lang="en-US" sz="1400" dirty="0"/>
          </a:p>
        </p:txBody>
      </p:sp>
      <p:sp>
        <p:nvSpPr>
          <p:cNvPr id="15" name="Resultado"/>
          <p:cNvSpPr/>
          <p:nvPr/>
        </p:nvSpPr>
        <p:spPr>
          <a:xfrm>
            <a:off x="6766560" y="29718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o Resultado"/>
          <p:cNvSpPr txBox="1"/>
          <p:nvPr/>
        </p:nvSpPr>
        <p:spPr>
          <a:xfrm>
            <a:off x="6858000" y="2971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BI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· tabla · acciones</a:t>
            </a:r>
            <a:endParaRPr lang="en-US" sz="1400" dirty="0"/>
          </a:p>
        </p:txBody>
      </p:sp>
      <p:sp>
        <p:nvSpPr>
          <p:cNvPr id="17" name="Flecha usuario-agente"/>
          <p:cNvSpPr/>
          <p:nvPr/>
        </p:nvSpPr>
        <p:spPr>
          <a:xfrm>
            <a:off x="2057400" y="1984248"/>
            <a:ext cx="3657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Flecha agente-supabase"/>
          <p:cNvSpPr/>
          <p:nvPr/>
        </p:nvSpPr>
        <p:spPr>
          <a:xfrm flipV="1">
            <a:off x="4023360" y="1527048"/>
            <a:ext cx="411480" cy="3017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Flecha agente-propio"/>
          <p:cNvSpPr/>
          <p:nvPr/>
        </p:nvSpPr>
        <p:spPr>
          <a:xfrm>
            <a:off x="4023360" y="2148840"/>
            <a:ext cx="411480" cy="29260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Flecha propio-backend"/>
          <p:cNvSpPr/>
          <p:nvPr/>
        </p:nvSpPr>
        <p:spPr>
          <a:xfrm>
            <a:off x="5349240" y="2834640"/>
            <a:ext cx="914" cy="1371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Flecha supabase-bd"/>
          <p:cNvSpPr/>
          <p:nvPr/>
        </p:nvSpPr>
        <p:spPr>
          <a:xfrm>
            <a:off x="6263640" y="15270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Flecha backend-resultado"/>
          <p:cNvSpPr/>
          <p:nvPr/>
        </p:nvSpPr>
        <p:spPr>
          <a:xfrm>
            <a:off x="6263640" y="33558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Flecha backend-bd"/>
          <p:cNvSpPr/>
          <p:nvPr/>
        </p:nvSpPr>
        <p:spPr>
          <a:xfrm flipV="1">
            <a:off x="6263640" y="1920240"/>
            <a:ext cx="685800" cy="11887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Notas arquitectura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 de GitHub adaptada: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oficial de MCP para Python → servidor propio credit-risk con 3 herramientas.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solo lectura; lo CRÍTICO espera autorización humana.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Skill: un score de 0 a 100 explicable</a:t>
            </a:r>
            <a:endParaRPr lang="en-US" sz="2800" dirty="0"/>
          </a:p>
        </p:txBody>
      </p:sp>
      <p:sp>
        <p:nvSpPr>
          <p:cNvPr id="3" name="Titular factores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máximo de cada factor</a:t>
            </a:r>
            <a:endParaRPr lang="en-US" sz="1400" dirty="0"/>
          </a:p>
        </p:txBody>
      </p:sp>
      <p:sp>
        <p:nvSpPr>
          <p:cNvPr id="4" name="Factor Esfuerzo financiero"/>
          <p:cNvSpPr txBox="1"/>
          <p:nvPr/>
        </p:nvSpPr>
        <p:spPr>
          <a:xfrm>
            <a:off x="457200" y="1554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financiero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/ ingresos</a:t>
            </a:r>
            <a:endParaRPr lang="en-US" sz="1400" dirty="0"/>
          </a:p>
        </p:txBody>
      </p:sp>
      <p:sp>
        <p:nvSpPr>
          <p:cNvPr id="5" name="Barra Esfuerzo financiero"/>
          <p:cNvSpPr/>
          <p:nvPr/>
        </p:nvSpPr>
        <p:spPr>
          <a:xfrm>
            <a:off x="2286000" y="1664208"/>
            <a:ext cx="2011680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eso Esfuerzo financiero"/>
          <p:cNvSpPr txBox="1"/>
          <p:nvPr/>
        </p:nvSpPr>
        <p:spPr>
          <a:xfrm>
            <a:off x="4389120" y="16276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600" dirty="0"/>
          </a:p>
        </p:txBody>
      </p:sp>
      <p:sp>
        <p:nvSpPr>
          <p:cNvPr id="7" name="Factor Tipo de interés"/>
          <p:cNvSpPr txBox="1"/>
          <p:nvPr/>
        </p:nvSpPr>
        <p:spPr>
          <a:xfrm>
            <a:off x="45720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interés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riesgo</a:t>
            </a:r>
            <a:endParaRPr lang="en-US" sz="1400" dirty="0"/>
          </a:p>
        </p:txBody>
      </p:sp>
      <p:sp>
        <p:nvSpPr>
          <p:cNvPr id="8" name="Barra Tipo de interés"/>
          <p:cNvSpPr/>
          <p:nvPr/>
        </p:nvSpPr>
        <p:spPr>
          <a:xfrm>
            <a:off x="2286000" y="2350008"/>
            <a:ext cx="1436914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eso Tipo de interés"/>
          <p:cNvSpPr txBox="1"/>
          <p:nvPr/>
        </p:nvSpPr>
        <p:spPr>
          <a:xfrm>
            <a:off x="3814354" y="23134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600" dirty="0"/>
          </a:p>
        </p:txBody>
      </p:sp>
      <p:sp>
        <p:nvSpPr>
          <p:cNvPr id="10" name="Factor Impago previo"/>
          <p:cNvSpPr txBox="1"/>
          <p:nvPr/>
        </p:nvSpPr>
        <p:spPr>
          <a:xfrm>
            <a:off x="457200" y="2926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previo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en buró</a:t>
            </a:r>
            <a:endParaRPr lang="en-US" sz="1400" dirty="0"/>
          </a:p>
        </p:txBody>
      </p:sp>
      <p:sp>
        <p:nvSpPr>
          <p:cNvPr id="11" name="Barra Impago previo"/>
          <p:cNvSpPr/>
          <p:nvPr/>
        </p:nvSpPr>
        <p:spPr>
          <a:xfrm>
            <a:off x="2286000" y="30358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Peso Impago previo"/>
          <p:cNvSpPr txBox="1"/>
          <p:nvPr/>
        </p:nvSpPr>
        <p:spPr>
          <a:xfrm>
            <a:off x="3526971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3" name="Factor Grado A-G"/>
          <p:cNvSpPr txBox="1"/>
          <p:nvPr/>
        </p:nvSpPr>
        <p:spPr>
          <a:xfrm>
            <a:off x="457200" y="3611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A-G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del préstamo</a:t>
            </a:r>
            <a:endParaRPr lang="en-US" sz="1400" dirty="0"/>
          </a:p>
        </p:txBody>
      </p:sp>
      <p:sp>
        <p:nvSpPr>
          <p:cNvPr id="14" name="Barra Grado A-G"/>
          <p:cNvSpPr/>
          <p:nvPr/>
        </p:nvSpPr>
        <p:spPr>
          <a:xfrm>
            <a:off x="2286000" y="37216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Peso Grado A-G"/>
          <p:cNvSpPr txBox="1"/>
          <p:nvPr/>
        </p:nvSpPr>
        <p:spPr>
          <a:xfrm>
            <a:off x="3526971" y="36850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Matriz BAJO"/>
          <p:cNvSpPr/>
          <p:nvPr/>
        </p:nvSpPr>
        <p:spPr>
          <a:xfrm>
            <a:off x="4937760" y="118872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emáforo BAJO"/>
          <p:cNvSpPr/>
          <p:nvPr/>
        </p:nvSpPr>
        <p:spPr>
          <a:xfrm>
            <a:off x="5120640" y="146304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Categoría BAJO"/>
          <p:cNvSpPr txBox="1"/>
          <p:nvPr/>
        </p:nvSpPr>
        <p:spPr>
          <a:xfrm>
            <a:off x="56692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</a:t>
            </a:r>
            <a:endParaRPr lang="en-US" sz="1500" dirty="0"/>
          </a:p>
        </p:txBody>
      </p:sp>
      <p:sp>
        <p:nvSpPr>
          <p:cNvPr id="19" name="Acción BAJO"/>
          <p:cNvSpPr txBox="1"/>
          <p:nvPr/>
        </p:nvSpPr>
        <p:spPr>
          <a:xfrm>
            <a:off x="5669280" y="161848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amigable de pago</a:t>
            </a:r>
            <a:endParaRPr lang="en-US" sz="1200" dirty="0"/>
          </a:p>
        </p:txBody>
      </p:sp>
      <p:sp>
        <p:nvSpPr>
          <p:cNvPr id="20" name="Matriz MODERADO"/>
          <p:cNvSpPr/>
          <p:nvPr/>
        </p:nvSpPr>
        <p:spPr>
          <a:xfrm>
            <a:off x="4937760" y="224028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emáforo MODERADO"/>
          <p:cNvSpPr/>
          <p:nvPr/>
        </p:nvSpPr>
        <p:spPr>
          <a:xfrm>
            <a:off x="5120640" y="25146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Categoría MODERADO"/>
          <p:cNvSpPr txBox="1"/>
          <p:nvPr/>
        </p:nvSpPr>
        <p:spPr>
          <a:xfrm>
            <a:off x="5669280" y="23500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30 - 65</a:t>
            </a:r>
            <a:endParaRPr lang="en-US" sz="1500" dirty="0"/>
          </a:p>
        </p:txBody>
      </p:sp>
      <p:sp>
        <p:nvSpPr>
          <p:cNvPr id="23" name="Acción MODERADO"/>
          <p:cNvSpPr txBox="1"/>
          <p:nvPr/>
        </p:nvSpPr>
        <p:spPr>
          <a:xfrm>
            <a:off x="5669280" y="2670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crédito + plan en 3 cuotas</a:t>
            </a:r>
            <a:endParaRPr lang="en-US" sz="1200" dirty="0"/>
          </a:p>
        </p:txBody>
      </p:sp>
      <p:sp>
        <p:nvSpPr>
          <p:cNvPr id="24" name="Matriz CRÍTICO"/>
          <p:cNvSpPr/>
          <p:nvPr/>
        </p:nvSpPr>
        <p:spPr>
          <a:xfrm>
            <a:off x="4937760" y="329184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emáforo CRÍTICO"/>
          <p:cNvSpPr/>
          <p:nvPr/>
        </p:nvSpPr>
        <p:spPr>
          <a:xfrm>
            <a:off x="5120640" y="3566160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Categoría CRÍTICO"/>
          <p:cNvSpPr txBox="1"/>
          <p:nvPr/>
        </p:nvSpPr>
        <p:spPr>
          <a:xfrm>
            <a:off x="5669280" y="3401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65</a:t>
            </a:r>
            <a:endParaRPr lang="en-US" sz="1500" dirty="0"/>
          </a:p>
        </p:txBody>
      </p:sp>
      <p:sp>
        <p:nvSpPr>
          <p:cNvPr id="27" name="Acción CRÍTICO"/>
          <p:cNvSpPr txBox="1"/>
          <p:nvPr/>
        </p:nvSpPr>
        <p:spPr>
          <a:xfrm>
            <a:off x="5669280" y="37216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+ reclamación legal · requiere autorización</a:t>
            </a:r>
            <a:endParaRPr lang="en-US" sz="1200" dirty="0"/>
          </a:p>
        </p:txBody>
      </p:sp>
      <p:sp>
        <p:nvSpPr>
          <p:cNvPr id="28" name="Principios skill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 y auditable · no usa edad ni vivienda · loan_status solo para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score acierta: el impago crece con el riesgo</a:t>
            </a:r>
            <a:endParaRPr lang="en-US" sz="2800" dirty="0"/>
          </a:p>
        </p:txBody>
      </p:sp>
      <p:graphicFrame>
        <p:nvGraphicFramePr>
          <p:cNvPr id="3" name="Gráfico impago por categoría" descr=""/>
          <p:cNvGraphicFramePr/>
          <p:nvPr/>
        </p:nvGraphicFramePr>
        <p:xfrm>
          <a:off x="457200" y="109728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ato préstamos CRÍTICOS (3,6 % de la cartera, 18,8 M$)"/>
          <p:cNvSpPr txBox="1"/>
          <p:nvPr/>
        </p:nvSpPr>
        <p:spPr>
          <a:xfrm>
            <a:off x="5760720" y="1188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1.161</a:t>
            </a:r>
            <a:endParaRPr lang="en-US" sz="2800" dirty="0"/>
          </a:p>
        </p:txBody>
      </p:sp>
      <p:sp>
        <p:nvSpPr>
          <p:cNvPr id="5" name="Texto dato préstamos CRÍTICOS (3,6 % de la cartera, 18,8 M$)"/>
          <p:cNvSpPr txBox="1"/>
          <p:nvPr/>
        </p:nvSpPr>
        <p:spPr>
          <a:xfrm>
            <a:off x="576072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CRÍTICOS (3,6 % de la cartera, 18,8 M$)</a:t>
            </a:r>
            <a:endParaRPr lang="en-US" sz="1300" dirty="0"/>
          </a:p>
        </p:txBody>
      </p:sp>
      <p:sp>
        <p:nvSpPr>
          <p:cNvPr id="6" name="Dato la tasa media de impago en CRÍTICO"/>
          <p:cNvSpPr txBox="1"/>
          <p:nvPr/>
        </p:nvSpPr>
        <p:spPr>
          <a:xfrm>
            <a:off x="576072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3,3×</a:t>
            </a:r>
            <a:endParaRPr lang="en-US" sz="2800" dirty="0"/>
          </a:p>
        </p:txBody>
      </p:sp>
      <p:sp>
        <p:nvSpPr>
          <p:cNvPr id="7" name="Texto dato la tasa media de impago en CRÍTICO"/>
          <p:cNvSpPr txBox="1"/>
          <p:nvPr/>
        </p:nvSpPr>
        <p:spPr>
          <a:xfrm>
            <a:off x="5760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media de impago en CRÍTICO</a:t>
            </a:r>
            <a:endParaRPr lang="en-US" sz="1300" dirty="0"/>
          </a:p>
        </p:txBody>
      </p:sp>
      <p:sp>
        <p:nvSpPr>
          <p:cNvPr id="8" name="Dato de los impagos caen en MODERADO + CRÍTICO"/>
          <p:cNvSpPr txBox="1"/>
          <p:nvPr/>
        </p:nvSpPr>
        <p:spPr>
          <a:xfrm>
            <a:off x="5760720" y="3383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77 %</a:t>
            </a:r>
            <a:endParaRPr lang="en-US" sz="2800" dirty="0"/>
          </a:p>
        </p:txBody>
      </p:sp>
      <p:sp>
        <p:nvSpPr>
          <p:cNvPr id="9" name="Texto dato de los impagos caen en MODERADO + CRÍTICO"/>
          <p:cNvSpPr txBox="1"/>
          <p:nvPr/>
        </p:nvSpPr>
        <p:spPr>
          <a:xfrm>
            <a:off x="576072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impagos caen en MODERADO + CRÍTICO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agente en acción: los 20 de mayor importe</a:t>
            </a:r>
            <a:endParaRPr lang="en-US" sz="2800" dirty="0"/>
          </a:p>
        </p:txBody>
      </p:sp>
      <p:sp>
        <p:nvSpPr>
          <p:cNvPr id="3" name="Tarjeta pregunta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Pregunta al agente"/>
          <p:cNvSpPr txBox="1"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«Analiza el riesgo de impago de los 20 préstamos de mayor importe y propón acciones»</a:t>
            </a:r>
            <a:endParaRPr lang="en-US" sz="1500" dirty="0"/>
          </a:p>
        </p:txBody>
      </p:sp>
      <p:graphicFrame>
        <p:nvGraphicFramePr>
          <p:cNvPr id="8" name="Tabla resulta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188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Impagos reales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Paso 1"/>
          <p:cNvSpPr/>
          <p:nvPr/>
        </p:nvSpPr>
        <p:spPr>
          <a:xfrm>
            <a:off x="5669280" y="19110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paso 1"/>
          <p:cNvSpPr txBox="1"/>
          <p:nvPr/>
        </p:nvSpPr>
        <p:spPr>
          <a:xfrm>
            <a:off x="5669280" y="191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6172200" y="18745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700.000 $ expuestos en los 20 préstamos</a:t>
            </a:r>
            <a:endParaRPr lang="en-US" sz="1300" dirty="0"/>
          </a:p>
        </p:txBody>
      </p:sp>
      <p:sp>
        <p:nvSpPr>
          <p:cNvPr id="9" name="Paso 2"/>
          <p:cNvSpPr/>
          <p:nvPr/>
        </p:nvSpPr>
        <p:spPr>
          <a:xfrm>
            <a:off x="5669280" y="25328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566928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6172200" y="2496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CRÍTICOS quedan pendientes de autorización humana</a:t>
            </a:r>
            <a:endParaRPr lang="en-US" sz="1300" dirty="0"/>
          </a:p>
        </p:txBody>
      </p:sp>
      <p:sp>
        <p:nvSpPr>
          <p:cNvPr id="12" name="Paso 3"/>
          <p:cNvSpPr/>
          <p:nvPr/>
        </p:nvSpPr>
        <p:spPr>
          <a:xfrm>
            <a:off x="5669280" y="31546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úmero paso 3"/>
          <p:cNvSpPr txBox="1"/>
          <p:nvPr/>
        </p:nvSpPr>
        <p:spPr>
          <a:xfrm>
            <a:off x="5669280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6172200" y="31181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finalidad, Médica concentra más riesgo crítico</a:t>
            </a:r>
            <a:endParaRPr lang="en-US" sz="1300" dirty="0"/>
          </a:p>
        </p:txBody>
      </p:sp>
      <p:sp>
        <p:nvSpPr>
          <p:cNvPr id="15" name="Paso 4"/>
          <p:cNvSpPr/>
          <p:nvPr/>
        </p:nvSpPr>
        <p:spPr>
          <a:xfrm>
            <a:off x="5669280" y="3776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úmero paso 4"/>
          <p:cNvSpPr txBox="1"/>
          <p:nvPr/>
        </p:nvSpPr>
        <p:spPr>
          <a:xfrm>
            <a:off x="566928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6172200" y="37398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y el agente dan el mismo resultado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de 9 pruebas obligatorias aprobadas</a:t>
            </a:r>
            <a:endParaRPr lang="en-US" sz="2800" dirty="0"/>
          </a:p>
        </p:txBody>
      </p:sp>
      <p:sp>
        <p:nvSpPr>
          <p:cNvPr id="3" name="Prueba Agente"/>
          <p:cNvSpPr/>
          <p:nvPr/>
        </p:nvSpPr>
        <p:spPr>
          <a:xfrm>
            <a:off x="4572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o prueba Agente"/>
          <p:cNvSpPr txBox="1"/>
          <p:nvPr/>
        </p:nvSpPr>
        <p:spPr>
          <a:xfrm>
            <a:off x="5486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400" dirty="0"/>
          </a:p>
        </p:txBody>
      </p:sp>
      <p:sp>
        <p:nvSpPr>
          <p:cNvPr id="5" name="Prueba Skill"/>
          <p:cNvSpPr/>
          <p:nvPr/>
        </p:nvSpPr>
        <p:spPr>
          <a:xfrm>
            <a:off x="20574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 prueba Skill"/>
          <p:cNvSpPr txBox="1"/>
          <p:nvPr/>
        </p:nvSpPr>
        <p:spPr>
          <a:xfrm>
            <a:off x="21488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</p:txBody>
      </p:sp>
      <p:sp>
        <p:nvSpPr>
          <p:cNvPr id="7" name="Prueba MCP"/>
          <p:cNvSpPr/>
          <p:nvPr/>
        </p:nvSpPr>
        <p:spPr>
          <a:xfrm>
            <a:off x="36576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prueba MCP"/>
          <p:cNvSpPr txBox="1"/>
          <p:nvPr/>
        </p:nvSpPr>
        <p:spPr>
          <a:xfrm>
            <a:off x="37490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9" name="Prueba Base de datos"/>
          <p:cNvSpPr/>
          <p:nvPr/>
        </p:nvSpPr>
        <p:spPr>
          <a:xfrm>
            <a:off x="4572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o prueba Base de datos"/>
          <p:cNvSpPr txBox="1"/>
          <p:nvPr/>
        </p:nvSpPr>
        <p:spPr>
          <a:xfrm>
            <a:off x="5486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400" dirty="0"/>
          </a:p>
        </p:txBody>
      </p:sp>
      <p:sp>
        <p:nvSpPr>
          <p:cNvPr id="11" name="Prueba Backend"/>
          <p:cNvSpPr/>
          <p:nvPr/>
        </p:nvSpPr>
        <p:spPr>
          <a:xfrm>
            <a:off x="20574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o prueba Backend"/>
          <p:cNvSpPr txBox="1"/>
          <p:nvPr/>
        </p:nvSpPr>
        <p:spPr>
          <a:xfrm>
            <a:off x="21488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Prueba Frontend"/>
          <p:cNvSpPr/>
          <p:nvPr/>
        </p:nvSpPr>
        <p:spPr>
          <a:xfrm>
            <a:off x="36576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prueba Frontend"/>
          <p:cNvSpPr txBox="1"/>
          <p:nvPr/>
        </p:nvSpPr>
        <p:spPr>
          <a:xfrm>
            <a:off x="37490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5" name="Prueba Flujo completo"/>
          <p:cNvSpPr/>
          <p:nvPr/>
        </p:nvSpPr>
        <p:spPr>
          <a:xfrm>
            <a:off x="4572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prueba Flujo completo"/>
          <p:cNvSpPr txBox="1"/>
          <p:nvPr/>
        </p:nvSpPr>
        <p:spPr>
          <a:xfrm>
            <a:off x="5486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</a:t>
            </a:r>
            <a:endParaRPr lang="en-US" sz="1400" dirty="0"/>
          </a:p>
        </p:txBody>
      </p:sp>
      <p:sp>
        <p:nvSpPr>
          <p:cNvPr id="17" name="Prueba Errores"/>
          <p:cNvSpPr/>
          <p:nvPr/>
        </p:nvSpPr>
        <p:spPr>
          <a:xfrm>
            <a:off x="20574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o prueba Errores"/>
          <p:cNvSpPr txBox="1"/>
          <p:nvPr/>
        </p:nvSpPr>
        <p:spPr>
          <a:xfrm>
            <a:off x="21488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400" dirty="0"/>
          </a:p>
        </p:txBody>
      </p:sp>
      <p:sp>
        <p:nvSpPr>
          <p:cNvPr id="19" name="Prueba Validación BI"/>
          <p:cNvSpPr/>
          <p:nvPr/>
        </p:nvSpPr>
        <p:spPr>
          <a:xfrm>
            <a:off x="36576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o prueba Validación BI"/>
          <p:cNvSpPr txBox="1"/>
          <p:nvPr/>
        </p:nvSpPr>
        <p:spPr>
          <a:xfrm>
            <a:off x="37490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BI</a:t>
            </a:r>
            <a:endParaRPr lang="en-US" sz="1400" dirty="0"/>
          </a:p>
        </p:txBody>
      </p:sp>
      <p:sp>
        <p:nvSpPr>
          <p:cNvPr id="21" name="Titular errores"/>
          <p:cNvSpPr txBox="1"/>
          <p:nvPr/>
        </p:nvSpPr>
        <p:spPr>
          <a:xfrm>
            <a:off x="5440680" y="11887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reales y cómo se resolvieron</a:t>
            </a:r>
            <a:endParaRPr lang="en-US" sz="1500" dirty="0"/>
          </a:p>
        </p:txBody>
      </p:sp>
      <p:sp>
        <p:nvSpPr>
          <p:cNvPr id="22" name="Lista errores"/>
          <p:cNvSpPr txBox="1"/>
          <p:nvPr/>
        </p:nvSpPr>
        <p:spPr>
          <a:xfrm>
            <a:off x="5440680" y="160020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usaba tablas que no existían → skill rediseñada sobre los datos reales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de la API de Supabase inválida → corregida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de MCP 2.x cambió nombres → código adaptado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«borra los préstamos» → el agente se niega; BD en solo lectura</a:t>
            </a:r>
            <a:endParaRPr lang="en-US" sz="1300" dirty="0"/>
          </a:p>
        </p:txBody>
      </p:sp>
      <p:sp>
        <p:nvSpPr>
          <p:cNvPr id="23" name="Resumen automatizadas"/>
          <p:cNvSpPr txBox="1"/>
          <p:nvPr/>
        </p:nvSpPr>
        <p:spPr>
          <a:xfrm>
            <a:off x="4572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pruebas automáticas · cifras cruzadas entre SQL directo y Python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Transparencia: lo que aún no resuelve</a:t>
            </a:r>
            <a:endParaRPr lang="en-US" sz="2800" dirty="0"/>
          </a:p>
        </p:txBody>
      </p:sp>
      <p:sp>
        <p:nvSpPr>
          <p:cNvPr id="3" name="Límite Crédito al consumo, no B2B"/>
          <p:cNvSpPr/>
          <p:nvPr/>
        </p:nvSpPr>
        <p:spPr>
          <a:xfrm>
            <a:off x="45720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itular límite Crédito al consumo, no B2B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al consumo, no B2B</a:t>
            </a:r>
            <a:endParaRPr lang="en-US" sz="1600" dirty="0"/>
          </a:p>
        </p:txBody>
      </p:sp>
      <p:sp>
        <p:nvSpPr>
          <p:cNvPr id="5" name="Texto límite Crédito al consumo, no B2B"/>
          <p:cNvSpPr txBox="1"/>
          <p:nvPr/>
        </p:nvSpPr>
        <p:spPr>
          <a:xfrm>
            <a:off x="68580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lógica sirve para facturas, pero los pesos habría que recalibrarlos</a:t>
            </a:r>
            <a:endParaRPr lang="en-US" sz="1300" dirty="0"/>
          </a:p>
        </p:txBody>
      </p:sp>
      <p:sp>
        <p:nvSpPr>
          <p:cNvPr id="6" name="Límite Pesos de criterio experto"/>
          <p:cNvSpPr/>
          <p:nvPr/>
        </p:nvSpPr>
        <p:spPr>
          <a:xfrm>
            <a:off x="466344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itular límite Pesos de criterio experto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criterio experto</a:t>
            </a:r>
            <a:endParaRPr lang="en-US" sz="1600" dirty="0"/>
          </a:p>
        </p:txBody>
      </p:sp>
      <p:sp>
        <p:nvSpPr>
          <p:cNvPr id="8" name="Texto límite Pesos de criterio experto"/>
          <p:cNvSpPr txBox="1"/>
          <p:nvPr/>
        </p:nvSpPr>
        <p:spPr>
          <a:xfrm>
            <a:off x="489204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 bien el riesgo (AUC 0,793), pero no están entrenados</a:t>
            </a:r>
            <a:endParaRPr lang="en-US" sz="1300" dirty="0"/>
          </a:p>
        </p:txBody>
      </p:sp>
      <p:sp>
        <p:nvSpPr>
          <p:cNvPr id="9" name="Límite CRÍTICO es preciso, no exhaustivo"/>
          <p:cNvSpPr/>
          <p:nvPr/>
        </p:nvSpPr>
        <p:spPr>
          <a:xfrm>
            <a:off x="45720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itular límite CRÍTICO es preciso, no exhaustivo"/>
          <p:cNvSpPr txBox="1"/>
          <p:nvPr/>
        </p:nvSpPr>
        <p:spPr>
          <a:xfrm>
            <a:off x="68580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es preciso, no exhaustivo</a:t>
            </a:r>
            <a:endParaRPr lang="en-US" sz="1600" dirty="0"/>
          </a:p>
        </p:txBody>
      </p:sp>
      <p:sp>
        <p:nvSpPr>
          <p:cNvPr id="11" name="Texto límite CRÍTICO es preciso, no exhaustivo"/>
          <p:cNvSpPr txBox="1"/>
          <p:nvPr/>
        </p:nvSpPr>
        <p:spPr>
          <a:xfrm>
            <a:off x="68580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11,8 % de los impagos; el 65 % cae en MODERADO</a:t>
            </a:r>
            <a:endParaRPr lang="en-US" sz="1300" dirty="0"/>
          </a:p>
        </p:txBody>
      </p:sp>
      <p:sp>
        <p:nvSpPr>
          <p:cNvPr id="12" name="Límite Datos sin fechas"/>
          <p:cNvSpPr/>
          <p:nvPr/>
        </p:nvSpPr>
        <p:spPr>
          <a:xfrm>
            <a:off x="466344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itular límite Datos sin fechas"/>
          <p:cNvSpPr txBox="1"/>
          <p:nvPr/>
        </p:nvSpPr>
        <p:spPr>
          <a:xfrm>
            <a:off x="489204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sin fechas</a:t>
            </a:r>
            <a:endParaRPr lang="en-US" sz="1600" dirty="0"/>
          </a:p>
        </p:txBody>
      </p:sp>
      <p:sp>
        <p:nvSpPr>
          <p:cNvPr id="14" name="Texto límite Datos sin fechas"/>
          <p:cNvSpPr txBox="1"/>
          <p:nvPr/>
        </p:nvSpPr>
        <p:spPr>
          <a:xfrm>
            <a:off x="489204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medir DSO ni evolución temporal</a:t>
            </a:r>
            <a:endParaRPr lang="en-US" sz="1300" dirty="0"/>
          </a:p>
        </p:txBody>
      </p:sp>
      <p:sp>
        <p:nvSpPr>
          <p:cNvPr id="15" name="Siguiente paso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calibrar los pesos con regresión logística y compararla con la fórmula 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aprendimos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cada cifra contra los datos y cuestionar a la IA cuando proponía algo que no existía</a:t>
            </a:r>
            <a:endParaRPr lang="en-US" sz="2000" dirty="0"/>
          </a:p>
        </p:txBody>
      </p:sp>
      <p:sp>
        <p:nvSpPr>
          <p:cNvPr id="4" name="Aprendizaje Datos primero"/>
          <p:cNvSpPr txBox="1"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primero</a:t>
            </a:r>
            <a:endParaRPr lang="en-US" sz="1700" dirty="0"/>
          </a:p>
        </p:txBody>
      </p:sp>
      <p:sp>
        <p:nvSpPr>
          <p:cNvPr id="5" name="Texto aprendizaje Datos primero"/>
          <p:cNvSpPr txBox="1"/>
          <p:nvPr/>
        </p:nvSpPr>
        <p:spPr>
          <a:xfrm>
            <a:off x="5486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sobre lo que hay en la base de datos, no sobre lo que imaginamos</a:t>
            </a:r>
            <a:endParaRPr lang="en-US" sz="1300" dirty="0"/>
          </a:p>
        </p:txBody>
      </p:sp>
      <p:sp>
        <p:nvSpPr>
          <p:cNvPr id="6" name="Aprendizaje La IA se revisa"/>
          <p:cNvSpPr txBox="1"/>
          <p:nvPr/>
        </p:nvSpPr>
        <p:spPr>
          <a:xfrm>
            <a:off x="32918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se revisa</a:t>
            </a:r>
            <a:endParaRPr lang="en-US" sz="1700" dirty="0"/>
          </a:p>
        </p:txBody>
      </p:sp>
      <p:sp>
        <p:nvSpPr>
          <p:cNvPr id="7" name="Texto aprendizaje La IA se revisa"/>
          <p:cNvSpPr txBox="1"/>
          <p:nvPr/>
        </p:nvSpPr>
        <p:spPr>
          <a:xfrm>
            <a:off x="32918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Contrastamos sus resultados con SQL directo y no le dejamos aprobarse permisos</a:t>
            </a:r>
            <a:endParaRPr lang="en-US" sz="1300" dirty="0"/>
          </a:p>
        </p:txBody>
      </p:sp>
      <p:sp>
        <p:nvSpPr>
          <p:cNvPr id="8" name="Aprendizaje Humano al mando"/>
          <p:cNvSpPr txBox="1"/>
          <p:nvPr/>
        </p:nvSpPr>
        <p:spPr>
          <a:xfrm>
            <a:off x="60350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al mando</a:t>
            </a:r>
            <a:endParaRPr lang="en-US" sz="1700" dirty="0"/>
          </a:p>
        </p:txBody>
      </p:sp>
      <p:sp>
        <p:nvSpPr>
          <p:cNvPr id="9" name="Texto aprendizaje Humano al mando"/>
          <p:cNvSpPr txBox="1"/>
          <p:nvPr/>
        </p:nvSpPr>
        <p:spPr>
          <a:xfrm>
            <a:off x="60350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duras de cobro siempre las autoriza una persona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Guard">
  <a:themeElements>
    <a:clrScheme name="CreditGuard">
      <a:dk1>
        <a:srgbClr val="16212E"/>
      </a:dk1>
      <a:lt1>
        <a:srgbClr val="FFFFFF"/>
      </a:lt1>
      <a:dk2>
        <a:srgbClr val="2B3B4F"/>
      </a:dk2>
      <a:lt2>
        <a:srgbClr val="EEF2F6"/>
      </a:lt2>
      <a:accent1>
        <a:srgbClr val="0E7C72"/>
      </a:accent1>
      <a:accent2>
        <a:srgbClr val="2F7D4F"/>
      </a:accent2>
      <a:accent3>
        <a:srgbClr val="C7820A"/>
      </a:accent3>
      <a:accent4>
        <a:srgbClr val="B42318"/>
      </a:accent4>
      <a:accent5>
        <a:srgbClr val="5B6B7D"/>
      </a:accent5>
      <a:accent6>
        <a:srgbClr val="D7EEEB"/>
      </a:accent6>
      <a:hlink>
        <a:srgbClr val="0E7C72"/>
      </a:hlink>
      <a:folHlink>
        <a:srgbClr val="2B3B4F"/>
      </a:folHlink>
    </a:clrScheme>
    <a:fontScheme name="Credit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CreditGuard AI</dc:title>
  <dc:subject>PptxGenJS Presentation</dc:subject>
  <dc:creator>Equipo CreditGuard AI</dc:creator>
  <cp:lastModifiedBy>Equipo CreditGuard AI</cp:lastModifiedBy>
  <cp:revision>1</cp:revision>
  <dcterms:created xsi:type="dcterms:W3CDTF">2026-10-29T01:03:26Z</dcterms:created>
  <dcterms:modified xsi:type="dcterms:W3CDTF">2026-10-29T01:03:26Z</dcterms:modified>
</cp:coreProperties>
</file>